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Inter" panose="020B0604020202020204" charset="0"/>
      <p:regular r:id="rId11"/>
      <p:bold r:id="rId12"/>
      <p:italic r:id="rId13"/>
      <p:boldItalic r:id="rId14"/>
    </p:embeddedFont>
    <p:embeddedFont>
      <p:font typeface="Inter SemiBold" panose="020B0604020202020204" charset="0"/>
      <p:regular r:id="rId15"/>
      <p:bold r:id="rId16"/>
      <p:italic r:id="rId17"/>
      <p:boldItalic r:id="rId18"/>
    </p:embeddedFont>
    <p:embeddedFont>
      <p:font typeface="JetBrains Mono" panose="020B0604020202020204" charset="0"/>
      <p:regular r:id="rId19"/>
      <p:bold r:id="rId20"/>
      <p:italic r:id="rId21"/>
      <p:boldItalic r:id="rId22"/>
    </p:embeddedFont>
    <p:embeddedFont>
      <p:font typeface="JetBrains Mono SemiBold" panose="020B0604020202020204" charset="0"/>
      <p:regular r:id="rId23"/>
      <p:bold r:id="rId24"/>
      <p:italic r:id="rId25"/>
      <p:boldItalic r:id="rId26"/>
    </p:embeddedFont>
    <p:embeddedFont>
      <p:font typeface="Manrope" panose="020B0604020202020204" charset="0"/>
      <p:bold r:id="rId27"/>
    </p:embeddedFont>
    <p:embeddedFont>
      <p:font typeface="Manrope Medium" panose="020B0604020202020204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972ac0f55_2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972ac0f55_2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972ac0f55_2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972ac0f55_2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972ac0f55_2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972ac0f55_2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972ac0f55_2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972ac0f55_2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972ac0f55_2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f972ac0f55_2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972ac0f55_1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f972ac0f55_1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972ac0f55_1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f972ac0f55_1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972ac0f55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f972ac0f55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972ac0f55_16_0)">
  <p:cSld name="Generated (g3f972ac0f55_16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9F9F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7" name="Google Shape;57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14"/>
            <p:cNvSpPr/>
            <p:nvPr/>
          </p:nvSpPr>
          <p:spPr>
            <a:xfrm>
              <a:off x="457200" y="457200"/>
              <a:ext cx="8229600" cy="4229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" name="Google Shape;59;p14"/>
            <p:cNvGrpSpPr/>
            <p:nvPr/>
          </p:nvGrpSpPr>
          <p:grpSpPr>
            <a:xfrm>
              <a:off x="400050" y="400050"/>
              <a:ext cx="114300" cy="114300"/>
              <a:chOff x="-57150" y="-57150"/>
              <a:chExt cx="114300" cy="114300"/>
            </a:xfrm>
          </p:grpSpPr>
          <p:cxnSp>
            <p:nvCxnSpPr>
              <p:cNvPr id="60" name="Google Shape;60;p14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1" name="Google Shape;61;p14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62" name="Google Shape;62;p14"/>
            <p:cNvGrpSpPr/>
            <p:nvPr/>
          </p:nvGrpSpPr>
          <p:grpSpPr>
            <a:xfrm>
              <a:off x="8629650" y="400050"/>
              <a:ext cx="114300" cy="114300"/>
              <a:chOff x="-57150" y="-57150"/>
              <a:chExt cx="114300" cy="114300"/>
            </a:xfrm>
          </p:grpSpPr>
          <p:cxnSp>
            <p:nvCxnSpPr>
              <p:cNvPr id="63" name="Google Shape;63;p14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4" name="Google Shape;64;p14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65" name="Google Shape;65;p14"/>
            <p:cNvGrpSpPr/>
            <p:nvPr/>
          </p:nvGrpSpPr>
          <p:grpSpPr>
            <a:xfrm>
              <a:off x="400050" y="4629150"/>
              <a:ext cx="114300" cy="114300"/>
              <a:chOff x="-57150" y="-57150"/>
              <a:chExt cx="114300" cy="114300"/>
            </a:xfrm>
          </p:grpSpPr>
          <p:cxnSp>
            <p:nvCxnSpPr>
              <p:cNvPr id="66" name="Google Shape;66;p14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7" name="Google Shape;67;p14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68" name="Google Shape;68;p14"/>
            <p:cNvGrpSpPr/>
            <p:nvPr/>
          </p:nvGrpSpPr>
          <p:grpSpPr>
            <a:xfrm>
              <a:off x="8629650" y="4629150"/>
              <a:ext cx="114300" cy="114300"/>
              <a:chOff x="-57150" y="-57150"/>
              <a:chExt cx="114300" cy="114300"/>
            </a:xfrm>
          </p:grpSpPr>
          <p:cxnSp>
            <p:nvCxnSpPr>
              <p:cNvPr id="69" name="Google Shape;69;p14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0" name="Google Shape;70;p14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71" name="Google Shape;71;p14"/>
            <p:cNvCxnSpPr/>
            <p:nvPr/>
          </p:nvCxnSpPr>
          <p:spPr>
            <a:xfrm>
              <a:off x="457200" y="34290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2" name="Google Shape;72;p14"/>
            <p:cNvSpPr/>
            <p:nvPr/>
          </p:nvSpPr>
          <p:spPr>
            <a:xfrm>
              <a:off x="457200" y="457200"/>
              <a:ext cx="228600" cy="381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457200" y="4648200"/>
              <a:ext cx="228600" cy="381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" name="Google Shape;74;p14"/>
          <p:cNvGrpSpPr/>
          <p:nvPr/>
        </p:nvGrpSpPr>
        <p:grpSpPr>
          <a:xfrm>
            <a:off x="609600" y="762000"/>
            <a:ext cx="7981950" cy="2314575"/>
            <a:chOff x="609600" y="762000"/>
            <a:chExt cx="7981950" cy="2314575"/>
          </a:xfrm>
        </p:grpSpPr>
        <p:sp>
          <p:nvSpPr>
            <p:cNvPr id="75" name="Google Shape;75;p14"/>
            <p:cNvSpPr txBox="1"/>
            <p:nvPr/>
          </p:nvSpPr>
          <p:spPr>
            <a:xfrm>
              <a:off x="609600" y="762000"/>
              <a:ext cx="3619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59595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Intelligent Meeting notes</a:t>
              </a:r>
              <a:endParaRPr sz="1200" b="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59595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Core Objective</a:t>
              </a:r>
              <a:endParaRPr sz="900" b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75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Design a browser-native extension and backend system to capture, stream, and summarize multi-source meeting audio using Google Gemini LLMs.</a:t>
              </a:r>
              <a:endParaRPr sz="975" b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6" name="Google Shape;76;p14"/>
            <p:cNvGrpSpPr/>
            <p:nvPr/>
          </p:nvGrpSpPr>
          <p:grpSpPr>
            <a:xfrm>
              <a:off x="4667250" y="819150"/>
              <a:ext cx="3924300" cy="2257425"/>
              <a:chOff x="4667250" y="819150"/>
              <a:chExt cx="3924300" cy="2257425"/>
            </a:xfrm>
          </p:grpSpPr>
          <p:pic>
            <p:nvPicPr>
              <p:cNvPr id="77" name="Google Shape;77;p1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724400" y="876300"/>
                <a:ext cx="3810000" cy="2143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" name="Google Shape;78;p14"/>
              <p:cNvSpPr/>
              <p:nvPr/>
            </p:nvSpPr>
            <p:spPr>
              <a:xfrm>
                <a:off x="4724400" y="876300"/>
                <a:ext cx="3810000" cy="2143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9" name="Google Shape;79;p14"/>
              <p:cNvGrpSpPr/>
              <p:nvPr/>
            </p:nvGrpSpPr>
            <p:grpSpPr>
              <a:xfrm>
                <a:off x="4667250" y="819150"/>
                <a:ext cx="114300" cy="114300"/>
                <a:chOff x="-57150" y="-57150"/>
                <a:chExt cx="114300" cy="114300"/>
              </a:xfrm>
            </p:grpSpPr>
            <p:cxnSp>
              <p:nvCxnSpPr>
                <p:cNvPr id="80" name="Google Shape;80;p14"/>
                <p:cNvCxnSpPr/>
                <p:nvPr/>
              </p:nvCxnSpPr>
              <p:spPr>
                <a:xfrm>
                  <a:off x="-57150" y="0"/>
                  <a:ext cx="1143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1A1A1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-57150"/>
                  <a:ext cx="0" cy="114300"/>
                </a:xfrm>
                <a:prstGeom prst="straightConnector1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1A1A1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82" name="Google Shape;82;p14"/>
              <p:cNvGrpSpPr/>
              <p:nvPr/>
            </p:nvGrpSpPr>
            <p:grpSpPr>
              <a:xfrm>
                <a:off x="8477250" y="819150"/>
                <a:ext cx="114300" cy="114300"/>
                <a:chOff x="-57150" y="-57150"/>
                <a:chExt cx="114300" cy="114300"/>
              </a:xfrm>
            </p:grpSpPr>
            <p:cxnSp>
              <p:nvCxnSpPr>
                <p:cNvPr id="83" name="Google Shape;83;p14"/>
                <p:cNvCxnSpPr/>
                <p:nvPr/>
              </p:nvCxnSpPr>
              <p:spPr>
                <a:xfrm>
                  <a:off x="-57150" y="0"/>
                  <a:ext cx="1143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1A1A1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0" y="-57150"/>
                  <a:ext cx="0" cy="114300"/>
                </a:xfrm>
                <a:prstGeom prst="straightConnector1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1A1A1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85" name="Google Shape;85;p14"/>
              <p:cNvGrpSpPr/>
              <p:nvPr/>
            </p:nvGrpSpPr>
            <p:grpSpPr>
              <a:xfrm>
                <a:off x="4667250" y="2962275"/>
                <a:ext cx="114300" cy="114300"/>
                <a:chOff x="-57150" y="-57150"/>
                <a:chExt cx="114300" cy="114300"/>
              </a:xfrm>
            </p:grpSpPr>
            <p:cxnSp>
              <p:nvCxnSpPr>
                <p:cNvPr id="86" name="Google Shape;86;p14"/>
                <p:cNvCxnSpPr/>
                <p:nvPr/>
              </p:nvCxnSpPr>
              <p:spPr>
                <a:xfrm>
                  <a:off x="-57150" y="0"/>
                  <a:ext cx="1143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1A1A1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0" y="-57150"/>
                  <a:ext cx="0" cy="114300"/>
                </a:xfrm>
                <a:prstGeom prst="straightConnector1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1A1A1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88" name="Google Shape;88;p14"/>
              <p:cNvGrpSpPr/>
              <p:nvPr/>
            </p:nvGrpSpPr>
            <p:grpSpPr>
              <a:xfrm>
                <a:off x="8477250" y="2962275"/>
                <a:ext cx="114300" cy="114300"/>
                <a:chOff x="-57150" y="-57150"/>
                <a:chExt cx="114300" cy="114300"/>
              </a:xfrm>
            </p:grpSpPr>
            <p:cxnSp>
              <p:nvCxnSpPr>
                <p:cNvPr id="89" name="Google Shape;89;p14"/>
                <p:cNvCxnSpPr/>
                <p:nvPr/>
              </p:nvCxnSpPr>
              <p:spPr>
                <a:xfrm>
                  <a:off x="-57150" y="0"/>
                  <a:ext cx="1143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1A1A1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0" y="-57150"/>
                  <a:ext cx="0" cy="114300"/>
                </a:xfrm>
                <a:prstGeom prst="straightConnector1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1A1A1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</p:grpSp>
      </p:grpSp>
      <p:sp>
        <p:nvSpPr>
          <p:cNvPr id="91" name="Google Shape;91;p14"/>
          <p:cNvSpPr txBox="1"/>
          <p:nvPr/>
        </p:nvSpPr>
        <p:spPr>
          <a:xfrm>
            <a:off x="609600" y="3619500"/>
            <a:ext cx="79248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Meeting Companion AI</a:t>
            </a:r>
            <a:endParaRPr sz="2400" b="1">
              <a:solidFill>
                <a:srgbClr val="1A1A1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50" b="0">
                <a:solidFill>
                  <a:srgbClr val="595959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Design, Architecture, and Implementation of an Automated Meeting Notes Engine</a:t>
            </a:r>
            <a:endParaRPr sz="1350" b="0">
              <a:solidFill>
                <a:srgbClr val="595959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" name="Google Shape;98;p15"/>
          <p:cNvCxnSpPr/>
          <p:nvPr/>
        </p:nvCxnSpPr>
        <p:spPr>
          <a:xfrm>
            <a:off x="457200" y="952500"/>
            <a:ext cx="82296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99" name="Google Shape;99;p15"/>
          <p:cNvGrpSpPr/>
          <p:nvPr/>
        </p:nvGrpSpPr>
        <p:grpSpPr>
          <a:xfrm>
            <a:off x="8629650" y="400050"/>
            <a:ext cx="114300" cy="114300"/>
            <a:chOff x="-57150" y="-57150"/>
            <a:chExt cx="114300" cy="114300"/>
          </a:xfrm>
        </p:grpSpPr>
        <p:cxnSp>
          <p:nvCxnSpPr>
            <p:cNvPr id="100" name="Google Shape;100;p15"/>
            <p:cNvCxnSpPr/>
            <p:nvPr/>
          </p:nvCxnSpPr>
          <p:spPr>
            <a:xfrm>
              <a:off x="-57150" y="0"/>
              <a:ext cx="1143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" name="Google Shape;101;p15"/>
            <p:cNvCxnSpPr/>
            <p:nvPr/>
          </p:nvCxnSpPr>
          <p:spPr>
            <a:xfrm>
              <a:off x="0" y="-57150"/>
              <a:ext cx="0" cy="11430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102" name="Google Shape;102;p15"/>
          <p:cNvCxnSpPr/>
          <p:nvPr/>
        </p:nvCxnSpPr>
        <p:spPr>
          <a:xfrm>
            <a:off x="8686800" y="457200"/>
            <a:ext cx="0" cy="15240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3" name="Google Shape;103;p15"/>
          <p:cNvSpPr txBox="1"/>
          <p:nvPr/>
        </p:nvSpPr>
        <p:spPr>
          <a:xfrm>
            <a:off x="457200" y="228600"/>
            <a:ext cx="82296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1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ARCHITECTURE &amp; SCOPE</a:t>
            </a:r>
            <a:endParaRPr sz="750" b="1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Project Scope &amp; Technical Constraints</a:t>
            </a:r>
            <a:endParaRPr sz="2100" b="1">
              <a:solidFill>
                <a:srgbClr val="1A1A1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4" name="Google Shape;104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7238" y="1143000"/>
            <a:ext cx="9600" cy="3390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" name="Google Shape;105;p15"/>
          <p:cNvGrpSpPr/>
          <p:nvPr/>
        </p:nvGrpSpPr>
        <p:grpSpPr>
          <a:xfrm>
            <a:off x="457200" y="1190625"/>
            <a:ext cx="3619500" cy="3333900"/>
            <a:chOff x="457200" y="1190625"/>
            <a:chExt cx="3619500" cy="3333900"/>
          </a:xfrm>
        </p:grpSpPr>
        <p:sp>
          <p:nvSpPr>
            <p:cNvPr id="106" name="Google Shape;106;p15"/>
            <p:cNvSpPr txBox="1"/>
            <p:nvPr/>
          </p:nvSpPr>
          <p:spPr>
            <a:xfrm>
              <a:off x="457200" y="1190625"/>
              <a:ext cx="361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1A1A1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01 // FUNCTIONAL REQUIREMENTS</a:t>
              </a:r>
              <a:endParaRPr sz="900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07" name="Google Shape;107;p15"/>
            <p:cNvSpPr txBox="1"/>
            <p:nvPr/>
          </p:nvSpPr>
          <p:spPr>
            <a:xfrm>
              <a:off x="457200" y="1571625"/>
              <a:ext cx="36195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57200" lvl="0" indent="-295275" algn="l" rtl="0"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050"/>
                <a:buFont typeface="Inter"/>
                <a:buChar char="●"/>
              </a:pPr>
              <a:r>
                <a:rPr lang="en" sz="1050" b="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Dual-stream audio recording</a:t>
              </a:r>
              <a:r>
                <a:rPr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of both browser meeting audio and physical user microphone.</a:t>
              </a:r>
              <a:endParaRPr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95275" algn="l" rtl="0">
                <a:spcBef>
                  <a:spcPts val="1800"/>
                </a:spcBef>
                <a:spcAft>
                  <a:spcPts val="1800"/>
                </a:spcAft>
                <a:buClr>
                  <a:srgbClr val="1A1A1A"/>
                </a:buClr>
                <a:buSzPts val="1050"/>
                <a:buFont typeface="Inter"/>
                <a:buChar char="●"/>
              </a:pPr>
              <a:r>
                <a:rPr lang="en" sz="1050" b="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Automated note compilation</a:t>
              </a:r>
              <a:r>
                <a:rPr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featuring an Executive Summary, Discussion Points, Decisions, and Action Items.</a:t>
              </a:r>
              <a:endParaRPr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8" name="Google Shape;108;p15"/>
          <p:cNvGrpSpPr/>
          <p:nvPr/>
        </p:nvGrpSpPr>
        <p:grpSpPr>
          <a:xfrm>
            <a:off x="4819650" y="1190625"/>
            <a:ext cx="3924300" cy="3438525"/>
            <a:chOff x="4819650" y="1190625"/>
            <a:chExt cx="3924300" cy="3438525"/>
          </a:xfrm>
        </p:grpSpPr>
        <p:sp>
          <p:nvSpPr>
            <p:cNvPr id="109" name="Google Shape;109;p15"/>
            <p:cNvSpPr txBox="1"/>
            <p:nvPr/>
          </p:nvSpPr>
          <p:spPr>
            <a:xfrm>
              <a:off x="4876800" y="1190625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1A1A1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02 // TECHNICAL CONSTRAINTS</a:t>
              </a:r>
              <a:endParaRPr sz="900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10" name="Google Shape;110;p15"/>
            <p:cNvSpPr txBox="1"/>
            <p:nvPr/>
          </p:nvSpPr>
          <p:spPr>
            <a:xfrm>
              <a:off x="4876800" y="1571625"/>
              <a:ext cx="3810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57200" lvl="0" indent="-295275" algn="l" rtl="0"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050"/>
                <a:buFont typeface="Inter"/>
                <a:buChar char="●"/>
              </a:pPr>
              <a:r>
                <a:rPr lang="en" sz="1050" b="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Memory efficiency</a:t>
              </a:r>
              <a:r>
                <a:rPr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to avoid browser memory leakage during long recordings.</a:t>
              </a:r>
              <a:endParaRPr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95275" algn="l" rtl="0">
                <a:spcBef>
                  <a:spcPts val="1200"/>
                </a:spcBef>
                <a:spcAft>
                  <a:spcPts val="0"/>
                </a:spcAft>
                <a:buClr>
                  <a:srgbClr val="1A1A1A"/>
                </a:buClr>
                <a:buSzPts val="1050"/>
                <a:buFont typeface="Inter"/>
                <a:buChar char="●"/>
              </a:pPr>
              <a:r>
                <a:rPr lang="en" sz="1050" b="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Manifest V3 compliance</a:t>
              </a:r>
              <a:r>
                <a:rPr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navigating background service worker limitations without direct DOM or audio hardware access.</a:t>
              </a:r>
              <a:endParaRPr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95275" algn="l" rtl="0">
                <a:spcBef>
                  <a:spcPts val="1200"/>
                </a:spcBef>
                <a:spcAft>
                  <a:spcPts val="1200"/>
                </a:spcAft>
                <a:buClr>
                  <a:srgbClr val="1A1A1A"/>
                </a:buClr>
                <a:buSzPts val="1050"/>
                <a:buFont typeface="Inter"/>
                <a:buChar char="●"/>
              </a:pPr>
              <a:r>
                <a:rPr lang="en" sz="1050" b="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Hardware agnosticism</a:t>
              </a:r>
              <a:r>
                <a:rPr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automatically adjusting to client microphone configurations of 44.1kHz or 48kHz.</a:t>
              </a:r>
              <a:endParaRPr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1" name="Google Shape;111;p15"/>
            <p:cNvGrpSpPr/>
            <p:nvPr/>
          </p:nvGrpSpPr>
          <p:grpSpPr>
            <a:xfrm>
              <a:off x="4819650" y="3276600"/>
              <a:ext cx="3924300" cy="1352550"/>
              <a:chOff x="4819650" y="3276600"/>
              <a:chExt cx="3924300" cy="1352550"/>
            </a:xfrm>
          </p:grpSpPr>
          <p:sp>
            <p:nvSpPr>
              <p:cNvPr id="112" name="Google Shape;112;p15"/>
              <p:cNvSpPr/>
              <p:nvPr/>
            </p:nvSpPr>
            <p:spPr>
              <a:xfrm>
                <a:off x="4876800" y="3333750"/>
                <a:ext cx="3810000" cy="1238400"/>
              </a:xfrm>
              <a:prstGeom prst="rect">
                <a:avLst/>
              </a:prstGeom>
              <a:solidFill>
                <a:srgbClr val="F9F9F7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3" name="Google Shape;113;p15"/>
              <p:cNvGrpSpPr/>
              <p:nvPr/>
            </p:nvGrpSpPr>
            <p:grpSpPr>
              <a:xfrm>
                <a:off x="4819650" y="3276600"/>
                <a:ext cx="114300" cy="114300"/>
                <a:chOff x="-57150" y="-57150"/>
                <a:chExt cx="114300" cy="114300"/>
              </a:xfrm>
            </p:grpSpPr>
            <p:cxnSp>
              <p:nvCxnSpPr>
                <p:cNvPr id="114" name="Google Shape;114;p15"/>
                <p:cNvCxnSpPr/>
                <p:nvPr/>
              </p:nvCxnSpPr>
              <p:spPr>
                <a:xfrm>
                  <a:off x="-57150" y="0"/>
                  <a:ext cx="1143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1A1A1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5" name="Google Shape;115;p15"/>
                <p:cNvCxnSpPr/>
                <p:nvPr/>
              </p:nvCxnSpPr>
              <p:spPr>
                <a:xfrm>
                  <a:off x="0" y="-57150"/>
                  <a:ext cx="0" cy="114300"/>
                </a:xfrm>
                <a:prstGeom prst="straightConnector1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1A1A1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16" name="Google Shape;116;p15"/>
              <p:cNvGrpSpPr/>
              <p:nvPr/>
            </p:nvGrpSpPr>
            <p:grpSpPr>
              <a:xfrm>
                <a:off x="8629650" y="3276600"/>
                <a:ext cx="114300" cy="114300"/>
                <a:chOff x="-57150" y="-57150"/>
                <a:chExt cx="114300" cy="114300"/>
              </a:xfrm>
            </p:grpSpPr>
            <p:cxnSp>
              <p:nvCxnSpPr>
                <p:cNvPr id="117" name="Google Shape;117;p15"/>
                <p:cNvCxnSpPr/>
                <p:nvPr/>
              </p:nvCxnSpPr>
              <p:spPr>
                <a:xfrm>
                  <a:off x="-57150" y="0"/>
                  <a:ext cx="1143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1A1A1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8" name="Google Shape;118;p15"/>
                <p:cNvCxnSpPr/>
                <p:nvPr/>
              </p:nvCxnSpPr>
              <p:spPr>
                <a:xfrm>
                  <a:off x="0" y="-57150"/>
                  <a:ext cx="0" cy="114300"/>
                </a:xfrm>
                <a:prstGeom prst="straightConnector1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1A1A1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19" name="Google Shape;119;p15"/>
              <p:cNvGrpSpPr/>
              <p:nvPr/>
            </p:nvGrpSpPr>
            <p:grpSpPr>
              <a:xfrm>
                <a:off x="4819650" y="4514850"/>
                <a:ext cx="114300" cy="114300"/>
                <a:chOff x="-57150" y="-57150"/>
                <a:chExt cx="114300" cy="114300"/>
              </a:xfrm>
            </p:grpSpPr>
            <p:cxnSp>
              <p:nvCxnSpPr>
                <p:cNvPr id="120" name="Google Shape;120;p15"/>
                <p:cNvCxnSpPr/>
                <p:nvPr/>
              </p:nvCxnSpPr>
              <p:spPr>
                <a:xfrm>
                  <a:off x="-57150" y="0"/>
                  <a:ext cx="1143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1A1A1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21" name="Google Shape;121;p15"/>
                <p:cNvCxnSpPr/>
                <p:nvPr/>
              </p:nvCxnSpPr>
              <p:spPr>
                <a:xfrm>
                  <a:off x="0" y="-57150"/>
                  <a:ext cx="0" cy="114300"/>
                </a:xfrm>
                <a:prstGeom prst="straightConnector1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1A1A1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22" name="Google Shape;122;p15"/>
              <p:cNvGrpSpPr/>
              <p:nvPr/>
            </p:nvGrpSpPr>
            <p:grpSpPr>
              <a:xfrm>
                <a:off x="8629650" y="4514850"/>
                <a:ext cx="114300" cy="114300"/>
                <a:chOff x="-57150" y="-57150"/>
                <a:chExt cx="114300" cy="114300"/>
              </a:xfrm>
            </p:grpSpPr>
            <p:cxnSp>
              <p:nvCxnSpPr>
                <p:cNvPr id="123" name="Google Shape;123;p15"/>
                <p:cNvCxnSpPr/>
                <p:nvPr/>
              </p:nvCxnSpPr>
              <p:spPr>
                <a:xfrm>
                  <a:off x="-57150" y="0"/>
                  <a:ext cx="1143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1A1A1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24" name="Google Shape;124;p15"/>
                <p:cNvCxnSpPr/>
                <p:nvPr/>
              </p:nvCxnSpPr>
              <p:spPr>
                <a:xfrm>
                  <a:off x="0" y="-57150"/>
                  <a:ext cx="0" cy="114300"/>
                </a:xfrm>
                <a:prstGeom prst="straightConnector1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1A1A1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sp>
            <p:nvSpPr>
              <p:cNvPr id="125" name="Google Shape;125;p15"/>
              <p:cNvSpPr/>
              <p:nvPr/>
            </p:nvSpPr>
            <p:spPr>
              <a:xfrm>
                <a:off x="4972050" y="3429000"/>
                <a:ext cx="1047900" cy="1047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6" name="Google Shape;126;p15"/>
              <p:cNvGrpSpPr/>
              <p:nvPr/>
            </p:nvGrpSpPr>
            <p:grpSpPr>
              <a:xfrm>
                <a:off x="4914900" y="3371850"/>
                <a:ext cx="114300" cy="114300"/>
                <a:chOff x="-57150" y="-57150"/>
                <a:chExt cx="114300" cy="114300"/>
              </a:xfrm>
            </p:grpSpPr>
            <p:cxnSp>
              <p:nvCxnSpPr>
                <p:cNvPr id="127" name="Google Shape;127;p15"/>
                <p:cNvCxnSpPr/>
                <p:nvPr/>
              </p:nvCxnSpPr>
              <p:spPr>
                <a:xfrm>
                  <a:off x="-57150" y="0"/>
                  <a:ext cx="1143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1A1A1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28" name="Google Shape;128;p15"/>
                <p:cNvCxnSpPr/>
                <p:nvPr/>
              </p:nvCxnSpPr>
              <p:spPr>
                <a:xfrm>
                  <a:off x="0" y="-57150"/>
                  <a:ext cx="0" cy="114300"/>
                </a:xfrm>
                <a:prstGeom prst="straightConnector1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1A1A1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29" name="Google Shape;129;p15"/>
              <p:cNvGrpSpPr/>
              <p:nvPr/>
            </p:nvGrpSpPr>
            <p:grpSpPr>
              <a:xfrm>
                <a:off x="5962650" y="3371850"/>
                <a:ext cx="114300" cy="114300"/>
                <a:chOff x="-57150" y="-57150"/>
                <a:chExt cx="114300" cy="114300"/>
              </a:xfrm>
            </p:grpSpPr>
            <p:cxnSp>
              <p:nvCxnSpPr>
                <p:cNvPr id="130" name="Google Shape;130;p15"/>
                <p:cNvCxnSpPr/>
                <p:nvPr/>
              </p:nvCxnSpPr>
              <p:spPr>
                <a:xfrm>
                  <a:off x="-57150" y="0"/>
                  <a:ext cx="1143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1A1A1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31" name="Google Shape;131;p15"/>
                <p:cNvCxnSpPr/>
                <p:nvPr/>
              </p:nvCxnSpPr>
              <p:spPr>
                <a:xfrm>
                  <a:off x="0" y="-57150"/>
                  <a:ext cx="0" cy="114300"/>
                </a:xfrm>
                <a:prstGeom prst="straightConnector1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1A1A1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32" name="Google Shape;132;p15"/>
              <p:cNvGrpSpPr/>
              <p:nvPr/>
            </p:nvGrpSpPr>
            <p:grpSpPr>
              <a:xfrm>
                <a:off x="4914900" y="4419600"/>
                <a:ext cx="114300" cy="114300"/>
                <a:chOff x="-57150" y="-57150"/>
                <a:chExt cx="114300" cy="114300"/>
              </a:xfrm>
            </p:grpSpPr>
            <p:cxnSp>
              <p:nvCxnSpPr>
                <p:cNvPr id="133" name="Google Shape;133;p15"/>
                <p:cNvCxnSpPr/>
                <p:nvPr/>
              </p:nvCxnSpPr>
              <p:spPr>
                <a:xfrm>
                  <a:off x="-57150" y="0"/>
                  <a:ext cx="1143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1A1A1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34" name="Google Shape;134;p15"/>
                <p:cNvCxnSpPr/>
                <p:nvPr/>
              </p:nvCxnSpPr>
              <p:spPr>
                <a:xfrm>
                  <a:off x="0" y="-57150"/>
                  <a:ext cx="0" cy="114300"/>
                </a:xfrm>
                <a:prstGeom prst="straightConnector1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1A1A1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35" name="Google Shape;135;p15"/>
              <p:cNvGrpSpPr/>
              <p:nvPr/>
            </p:nvGrpSpPr>
            <p:grpSpPr>
              <a:xfrm>
                <a:off x="5962650" y="4419600"/>
                <a:ext cx="114300" cy="114300"/>
                <a:chOff x="-57150" y="-57150"/>
                <a:chExt cx="114300" cy="114300"/>
              </a:xfrm>
            </p:grpSpPr>
            <p:cxnSp>
              <p:nvCxnSpPr>
                <p:cNvPr id="136" name="Google Shape;136;p15"/>
                <p:cNvCxnSpPr/>
                <p:nvPr/>
              </p:nvCxnSpPr>
              <p:spPr>
                <a:xfrm>
                  <a:off x="-57150" y="0"/>
                  <a:ext cx="1143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1A1A1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37" name="Google Shape;137;p15"/>
                <p:cNvCxnSpPr/>
                <p:nvPr/>
              </p:nvCxnSpPr>
              <p:spPr>
                <a:xfrm>
                  <a:off x="0" y="-57150"/>
                  <a:ext cx="0" cy="114300"/>
                </a:xfrm>
                <a:prstGeom prst="straightConnector1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1A1A1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pic>
            <p:nvPicPr>
              <p:cNvPr id="138" name="Google Shape;138;p15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4972050" y="3429000"/>
                <a:ext cx="1047900" cy="1047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9" name="Google Shape;139;p15"/>
              <p:cNvSpPr txBox="1"/>
              <p:nvPr/>
            </p:nvSpPr>
            <p:spPr>
              <a:xfrm>
                <a:off x="6162675" y="3429000"/>
                <a:ext cx="23814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25" b="1">
                    <a:solidFill>
                      <a:srgbClr val="1A1A1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SYSTEM SCHEMATIC // ENGINE</a:t>
                </a:r>
                <a:endParaRPr sz="825" b="1">
                  <a:solidFill>
                    <a:srgbClr val="1A1A1A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900" b="0">
                    <a:solidFill>
                      <a:srgbClr val="595959"/>
                    </a:solidFill>
                    <a:latin typeface="Inter"/>
                    <a:ea typeface="Inter"/>
                    <a:cs typeface="Inter"/>
                    <a:sym typeface="Inter"/>
                  </a:rPr>
                  <a:t>Optimized background capture loop featuring automatic sample rate alignment.</a:t>
                </a:r>
                <a:endParaRPr sz="900" b="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595959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CONFIG: 44.1kHz / 48kHz AUTO</a:t>
                </a:r>
                <a:endParaRPr sz="750" b="0">
                  <a:solidFill>
                    <a:srgbClr val="595959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45" name="Google Shape;145;p1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9F9F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6" name="Google Shape;146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7" name="Google Shape;147;p16"/>
            <p:cNvGrpSpPr/>
            <p:nvPr/>
          </p:nvGrpSpPr>
          <p:grpSpPr>
            <a:xfrm>
              <a:off x="400050" y="400050"/>
              <a:ext cx="114300" cy="114300"/>
              <a:chOff x="-57150" y="-57150"/>
              <a:chExt cx="114300" cy="114300"/>
            </a:xfrm>
          </p:grpSpPr>
          <p:cxnSp>
            <p:nvCxnSpPr>
              <p:cNvPr id="148" name="Google Shape;148;p16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9" name="Google Shape;149;p16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50" name="Google Shape;150;p16"/>
            <p:cNvGrpSpPr/>
            <p:nvPr/>
          </p:nvGrpSpPr>
          <p:grpSpPr>
            <a:xfrm>
              <a:off x="8629650" y="400050"/>
              <a:ext cx="114300" cy="114300"/>
              <a:chOff x="-57150" y="-57150"/>
              <a:chExt cx="114300" cy="114300"/>
            </a:xfrm>
          </p:grpSpPr>
          <p:cxnSp>
            <p:nvCxnSpPr>
              <p:cNvPr id="151" name="Google Shape;151;p16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2" name="Google Shape;152;p16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53" name="Google Shape;153;p16"/>
            <p:cNvGrpSpPr/>
            <p:nvPr/>
          </p:nvGrpSpPr>
          <p:grpSpPr>
            <a:xfrm>
              <a:off x="400050" y="4629150"/>
              <a:ext cx="114300" cy="114300"/>
              <a:chOff x="-57150" y="-57150"/>
              <a:chExt cx="114300" cy="114300"/>
            </a:xfrm>
          </p:grpSpPr>
          <p:cxnSp>
            <p:nvCxnSpPr>
              <p:cNvPr id="154" name="Google Shape;154;p16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5" name="Google Shape;155;p16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56" name="Google Shape;156;p16"/>
            <p:cNvGrpSpPr/>
            <p:nvPr/>
          </p:nvGrpSpPr>
          <p:grpSpPr>
            <a:xfrm>
              <a:off x="8629650" y="4629150"/>
              <a:ext cx="114300" cy="114300"/>
              <a:chOff x="-57150" y="-57150"/>
              <a:chExt cx="114300" cy="114300"/>
            </a:xfrm>
          </p:grpSpPr>
          <p:cxnSp>
            <p:nvCxnSpPr>
              <p:cNvPr id="157" name="Google Shape;157;p16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8" name="Google Shape;158;p16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159" name="Google Shape;159;p16"/>
          <p:cNvSpPr txBox="1"/>
          <p:nvPr/>
        </p:nvSpPr>
        <p:spPr>
          <a:xfrm>
            <a:off x="762000" y="619125"/>
            <a:ext cx="4191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20" b="1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System Architecture &amp; Data Flow</a:t>
            </a:r>
            <a:endParaRPr sz="2220" b="1">
              <a:solidFill>
                <a:srgbClr val="1A1A1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971" b="0">
                <a:solidFill>
                  <a:srgbClr val="595959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A clean client-to-server data architecture pipeline.</a:t>
            </a:r>
            <a:endParaRPr sz="971" b="0">
              <a:solidFill>
                <a:srgbClr val="595959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grpSp>
        <p:nvGrpSpPr>
          <p:cNvPr id="160" name="Google Shape;160;p16"/>
          <p:cNvGrpSpPr/>
          <p:nvPr/>
        </p:nvGrpSpPr>
        <p:grpSpPr>
          <a:xfrm>
            <a:off x="762000" y="1666875"/>
            <a:ext cx="3810000" cy="1285800"/>
            <a:chOff x="0" y="0"/>
            <a:chExt cx="3810000" cy="1285800"/>
          </a:xfrm>
        </p:grpSpPr>
        <p:sp>
          <p:nvSpPr>
            <p:cNvPr id="161" name="Google Shape;161;p16"/>
            <p:cNvSpPr/>
            <p:nvPr/>
          </p:nvSpPr>
          <p:spPr>
            <a:xfrm>
              <a:off x="0" y="0"/>
              <a:ext cx="3810000" cy="1285800"/>
            </a:xfrm>
            <a:prstGeom prst="rect">
              <a:avLst/>
            </a:prstGeom>
            <a:solidFill>
              <a:srgbClr val="F9F9F7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0" y="0"/>
              <a:ext cx="3810000" cy="2286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6"/>
            <p:cNvSpPr txBox="1"/>
            <p:nvPr/>
          </p:nvSpPr>
          <p:spPr>
            <a:xfrm>
              <a:off x="114300" y="38100"/>
              <a:ext cx="35814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5" b="0">
                  <a:solidFill>
                    <a:srgbClr val="F9F9F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PIPELINE OVERVIEW</a:t>
              </a:r>
              <a:endParaRPr sz="825" b="0">
                <a:solidFill>
                  <a:srgbClr val="F9F9F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64" name="Google Shape;164;p16"/>
            <p:cNvSpPr txBox="1"/>
            <p:nvPr/>
          </p:nvSpPr>
          <p:spPr>
            <a:xfrm>
              <a:off x="152400" y="342900"/>
              <a:ext cx="35052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5" b="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A decoupled, low-latency pipeline connecting client-side Web Audio capture components to FastAPI processing, backed by ephemeral AI summaries.</a:t>
              </a:r>
              <a:endParaRPr sz="975" b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5" name="Google Shape;165;p16"/>
          <p:cNvGrpSpPr/>
          <p:nvPr/>
        </p:nvGrpSpPr>
        <p:grpSpPr>
          <a:xfrm>
            <a:off x="762000" y="3238500"/>
            <a:ext cx="2286000" cy="1190700"/>
            <a:chOff x="0" y="0"/>
            <a:chExt cx="2286000" cy="1190700"/>
          </a:xfrm>
        </p:grpSpPr>
        <p:sp>
          <p:nvSpPr>
            <p:cNvPr id="166" name="Google Shape;166;p16"/>
            <p:cNvSpPr/>
            <p:nvPr/>
          </p:nvSpPr>
          <p:spPr>
            <a:xfrm>
              <a:off x="0" y="0"/>
              <a:ext cx="2286000" cy="1190700"/>
            </a:xfrm>
            <a:prstGeom prst="rect">
              <a:avLst/>
            </a:prstGeom>
            <a:solidFill>
              <a:srgbClr val="F9F9F7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0" y="0"/>
              <a:ext cx="2286000" cy="228600"/>
            </a:xfrm>
            <a:prstGeom prst="rect">
              <a:avLst/>
            </a:prstGeom>
            <a:solidFill>
              <a:srgbClr val="E0E0D8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6"/>
            <p:cNvSpPr txBox="1"/>
            <p:nvPr/>
          </p:nvSpPr>
          <p:spPr>
            <a:xfrm>
              <a:off x="114300" y="38100"/>
              <a:ext cx="20574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5" b="0">
                  <a:solidFill>
                    <a:srgbClr val="1A1A1A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01 // CLIENT EXTENSION</a:t>
              </a:r>
              <a:endParaRPr sz="825" b="0">
                <a:solidFill>
                  <a:srgbClr val="1A1A1A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169" name="Google Shape;169;p16"/>
            <p:cNvSpPr txBox="1"/>
            <p:nvPr/>
          </p:nvSpPr>
          <p:spPr>
            <a:xfrm>
              <a:off x="114300" y="304800"/>
              <a:ext cx="2057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5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• Popup UI for control</a:t>
              </a:r>
              <a:endParaRPr sz="825" b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25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• Background Worker orchestration</a:t>
              </a:r>
              <a:endParaRPr sz="825" b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25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• Offscreen Web Audio API context</a:t>
              </a:r>
              <a:endParaRPr sz="825" b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0" name="Google Shape;170;p16"/>
          <p:cNvGrpSpPr/>
          <p:nvPr/>
        </p:nvGrpSpPr>
        <p:grpSpPr>
          <a:xfrm>
            <a:off x="3048000" y="3629025"/>
            <a:ext cx="381075" cy="219075"/>
            <a:chOff x="0" y="-133350"/>
            <a:chExt cx="381075" cy="219075"/>
          </a:xfrm>
        </p:grpSpPr>
        <p:grpSp>
          <p:nvGrpSpPr>
            <p:cNvPr id="171" name="Google Shape;171;p16"/>
            <p:cNvGrpSpPr/>
            <p:nvPr/>
          </p:nvGrpSpPr>
          <p:grpSpPr>
            <a:xfrm>
              <a:off x="0" y="9525"/>
              <a:ext cx="381075" cy="76200"/>
              <a:chOff x="0" y="9525"/>
              <a:chExt cx="381075" cy="76200"/>
            </a:xfrm>
          </p:grpSpPr>
          <p:cxnSp>
            <p:nvCxnSpPr>
              <p:cNvPr id="172" name="Google Shape;172;p16"/>
              <p:cNvCxnSpPr/>
              <p:nvPr/>
            </p:nvCxnSpPr>
            <p:spPr>
              <a:xfrm>
                <a:off x="0" y="47625"/>
                <a:ext cx="3810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73" name="Google Shape;173;p16"/>
              <p:cNvSpPr/>
              <p:nvPr/>
            </p:nvSpPr>
            <p:spPr>
              <a:xfrm>
                <a:off x="333375" y="9525"/>
                <a:ext cx="477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4300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4" name="Google Shape;174;p16"/>
            <p:cNvSpPr txBox="1"/>
            <p:nvPr/>
          </p:nvSpPr>
          <p:spPr>
            <a:xfrm>
              <a:off x="0" y="-133350"/>
              <a:ext cx="3810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65" b="0">
                  <a:solidFill>
                    <a:srgbClr val="59595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PCM Stream</a:t>
              </a:r>
              <a:endParaRPr sz="465" b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175" name="Google Shape;175;p16"/>
          <p:cNvGrpSpPr/>
          <p:nvPr/>
        </p:nvGrpSpPr>
        <p:grpSpPr>
          <a:xfrm>
            <a:off x="3429000" y="3238500"/>
            <a:ext cx="2286000" cy="1190700"/>
            <a:chOff x="0" y="0"/>
            <a:chExt cx="2286000" cy="1190700"/>
          </a:xfrm>
        </p:grpSpPr>
        <p:sp>
          <p:nvSpPr>
            <p:cNvPr id="176" name="Google Shape;176;p16"/>
            <p:cNvSpPr/>
            <p:nvPr/>
          </p:nvSpPr>
          <p:spPr>
            <a:xfrm>
              <a:off x="0" y="0"/>
              <a:ext cx="2286000" cy="1190700"/>
            </a:xfrm>
            <a:prstGeom prst="rect">
              <a:avLst/>
            </a:prstGeom>
            <a:solidFill>
              <a:srgbClr val="F9F9F7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0" y="0"/>
              <a:ext cx="2286000" cy="228600"/>
            </a:xfrm>
            <a:prstGeom prst="rect">
              <a:avLst/>
            </a:prstGeom>
            <a:solidFill>
              <a:srgbClr val="E0E0D8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6"/>
            <p:cNvSpPr txBox="1"/>
            <p:nvPr/>
          </p:nvSpPr>
          <p:spPr>
            <a:xfrm>
              <a:off x="114300" y="38100"/>
              <a:ext cx="20574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5" b="0">
                  <a:solidFill>
                    <a:srgbClr val="1A1A1A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02 // FASTAPI BACKEND</a:t>
              </a:r>
              <a:endParaRPr sz="825" b="0">
                <a:solidFill>
                  <a:srgbClr val="1A1A1A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179" name="Google Shape;179;p16"/>
            <p:cNvSpPr txBox="1"/>
            <p:nvPr/>
          </p:nvSpPr>
          <p:spPr>
            <a:xfrm>
              <a:off x="114300" y="304800"/>
              <a:ext cx="2057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5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•  </a:t>
              </a:r>
              <a:r>
                <a:rPr lang="en" sz="825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S</a:t>
              </a:r>
              <a:r>
                <a:rPr lang="en" sz="825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ervice hosted on AWS EC2</a:t>
              </a:r>
              <a:endParaRPr sz="825" b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25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• REST endpoints for session mgmt</a:t>
              </a:r>
              <a:endParaRPr sz="825" b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25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• Raw PCM chunking &amp; note gen</a:t>
              </a:r>
              <a:endParaRPr sz="825" b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0" name="Google Shape;180;p16"/>
          <p:cNvGrpSpPr/>
          <p:nvPr/>
        </p:nvGrpSpPr>
        <p:grpSpPr>
          <a:xfrm>
            <a:off x="5715000" y="3629025"/>
            <a:ext cx="381075" cy="219075"/>
            <a:chOff x="0" y="-133350"/>
            <a:chExt cx="381075" cy="219075"/>
          </a:xfrm>
        </p:grpSpPr>
        <p:grpSp>
          <p:nvGrpSpPr>
            <p:cNvPr id="181" name="Google Shape;181;p16"/>
            <p:cNvGrpSpPr/>
            <p:nvPr/>
          </p:nvGrpSpPr>
          <p:grpSpPr>
            <a:xfrm>
              <a:off x="0" y="9525"/>
              <a:ext cx="381075" cy="76200"/>
              <a:chOff x="0" y="9525"/>
              <a:chExt cx="381075" cy="76200"/>
            </a:xfrm>
          </p:grpSpPr>
          <p:cxnSp>
            <p:nvCxnSpPr>
              <p:cNvPr id="182" name="Google Shape;182;p16"/>
              <p:cNvCxnSpPr/>
              <p:nvPr/>
            </p:nvCxnSpPr>
            <p:spPr>
              <a:xfrm>
                <a:off x="0" y="47625"/>
                <a:ext cx="3810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83" name="Google Shape;183;p16"/>
              <p:cNvSpPr/>
              <p:nvPr/>
            </p:nvSpPr>
            <p:spPr>
              <a:xfrm>
                <a:off x="333375" y="9525"/>
                <a:ext cx="477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4300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4" name="Google Shape;184;p16"/>
            <p:cNvSpPr txBox="1"/>
            <p:nvPr/>
          </p:nvSpPr>
          <p:spPr>
            <a:xfrm>
              <a:off x="0" y="-133350"/>
              <a:ext cx="3810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55" b="0">
                  <a:solidFill>
                    <a:srgbClr val="59595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Audio API</a:t>
              </a:r>
              <a:endParaRPr sz="555" b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185" name="Google Shape;185;p16"/>
          <p:cNvGrpSpPr/>
          <p:nvPr/>
        </p:nvGrpSpPr>
        <p:grpSpPr>
          <a:xfrm>
            <a:off x="6096000" y="3238500"/>
            <a:ext cx="2286000" cy="1190700"/>
            <a:chOff x="0" y="0"/>
            <a:chExt cx="2286000" cy="1190700"/>
          </a:xfrm>
        </p:grpSpPr>
        <p:sp>
          <p:nvSpPr>
            <p:cNvPr id="186" name="Google Shape;186;p16"/>
            <p:cNvSpPr/>
            <p:nvPr/>
          </p:nvSpPr>
          <p:spPr>
            <a:xfrm>
              <a:off x="0" y="0"/>
              <a:ext cx="2286000" cy="1190700"/>
            </a:xfrm>
            <a:prstGeom prst="rect">
              <a:avLst/>
            </a:prstGeom>
            <a:solidFill>
              <a:srgbClr val="F9F9F7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6"/>
            <p:cNvSpPr/>
            <p:nvPr/>
          </p:nvSpPr>
          <p:spPr>
            <a:xfrm>
              <a:off x="0" y="0"/>
              <a:ext cx="2286000" cy="228600"/>
            </a:xfrm>
            <a:prstGeom prst="rect">
              <a:avLst/>
            </a:prstGeom>
            <a:solidFill>
              <a:srgbClr val="E0E0D8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6"/>
            <p:cNvSpPr txBox="1"/>
            <p:nvPr/>
          </p:nvSpPr>
          <p:spPr>
            <a:xfrm>
              <a:off x="114300" y="38100"/>
              <a:ext cx="20574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5" b="0">
                  <a:solidFill>
                    <a:srgbClr val="1A1A1A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03 // AI LAYER</a:t>
              </a:r>
              <a:endParaRPr sz="825" b="0">
                <a:solidFill>
                  <a:srgbClr val="1A1A1A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189" name="Google Shape;189;p16"/>
            <p:cNvSpPr txBox="1"/>
            <p:nvPr/>
          </p:nvSpPr>
          <p:spPr>
            <a:xfrm>
              <a:off x="114300" y="304800"/>
              <a:ext cx="2057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5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• Google Gemini API utilization</a:t>
              </a:r>
              <a:endParaRPr sz="825" b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25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• Ephemeral Gemini File Storage</a:t>
              </a:r>
              <a:endParaRPr sz="825" b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25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• Structured summary generation</a:t>
              </a:r>
              <a:endParaRPr sz="825" b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90" name="Google Shape;190;p16" descr="make server side and client side simpl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0600" y="422925"/>
            <a:ext cx="3680451" cy="268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6" name="Google Shape;19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7" name="Google Shape;197;p17"/>
          <p:cNvGrpSpPr/>
          <p:nvPr/>
        </p:nvGrpSpPr>
        <p:grpSpPr>
          <a:xfrm>
            <a:off x="419100" y="400050"/>
            <a:ext cx="114300" cy="114300"/>
            <a:chOff x="-57150" y="-57150"/>
            <a:chExt cx="114300" cy="114300"/>
          </a:xfrm>
        </p:grpSpPr>
        <p:cxnSp>
          <p:nvCxnSpPr>
            <p:cNvPr id="198" name="Google Shape;198;p17"/>
            <p:cNvCxnSpPr/>
            <p:nvPr/>
          </p:nvCxnSpPr>
          <p:spPr>
            <a:xfrm>
              <a:off x="-57150" y="0"/>
              <a:ext cx="114300" cy="0"/>
            </a:xfrm>
            <a:prstGeom prst="straightConnector1">
              <a:avLst/>
            </a:prstGeom>
            <a:solidFill>
              <a:srgbClr val="FFFFFF"/>
            </a:solidFill>
            <a:ln w="7150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9" name="Google Shape;199;p17"/>
            <p:cNvCxnSpPr/>
            <p:nvPr/>
          </p:nvCxnSpPr>
          <p:spPr>
            <a:xfrm>
              <a:off x="0" y="-57150"/>
              <a:ext cx="0" cy="114300"/>
            </a:xfrm>
            <a:prstGeom prst="straightConnector1">
              <a:avLst/>
            </a:prstGeom>
            <a:solidFill>
              <a:srgbClr val="FFFFFF"/>
            </a:solidFill>
            <a:ln w="7150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0" name="Google Shape;200;p17"/>
          <p:cNvGrpSpPr/>
          <p:nvPr/>
        </p:nvGrpSpPr>
        <p:grpSpPr>
          <a:xfrm>
            <a:off x="8610600" y="400050"/>
            <a:ext cx="114300" cy="114300"/>
            <a:chOff x="-57150" y="-57150"/>
            <a:chExt cx="114300" cy="114300"/>
          </a:xfrm>
        </p:grpSpPr>
        <p:cxnSp>
          <p:nvCxnSpPr>
            <p:cNvPr id="201" name="Google Shape;201;p17"/>
            <p:cNvCxnSpPr/>
            <p:nvPr/>
          </p:nvCxnSpPr>
          <p:spPr>
            <a:xfrm>
              <a:off x="-57150" y="0"/>
              <a:ext cx="114300" cy="0"/>
            </a:xfrm>
            <a:prstGeom prst="straightConnector1">
              <a:avLst/>
            </a:prstGeom>
            <a:solidFill>
              <a:srgbClr val="FFFFFF"/>
            </a:solidFill>
            <a:ln w="7150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2" name="Google Shape;202;p17"/>
            <p:cNvCxnSpPr/>
            <p:nvPr/>
          </p:nvCxnSpPr>
          <p:spPr>
            <a:xfrm>
              <a:off x="0" y="-57150"/>
              <a:ext cx="0" cy="114300"/>
            </a:xfrm>
            <a:prstGeom prst="straightConnector1">
              <a:avLst/>
            </a:prstGeom>
            <a:solidFill>
              <a:srgbClr val="FFFFFF"/>
            </a:solidFill>
            <a:ln w="7150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3" name="Google Shape;203;p17"/>
          <p:cNvGrpSpPr/>
          <p:nvPr/>
        </p:nvGrpSpPr>
        <p:grpSpPr>
          <a:xfrm>
            <a:off x="419100" y="4629150"/>
            <a:ext cx="114300" cy="114300"/>
            <a:chOff x="-57150" y="-57150"/>
            <a:chExt cx="114300" cy="114300"/>
          </a:xfrm>
        </p:grpSpPr>
        <p:cxnSp>
          <p:nvCxnSpPr>
            <p:cNvPr id="204" name="Google Shape;204;p17"/>
            <p:cNvCxnSpPr/>
            <p:nvPr/>
          </p:nvCxnSpPr>
          <p:spPr>
            <a:xfrm>
              <a:off x="-57150" y="0"/>
              <a:ext cx="114300" cy="0"/>
            </a:xfrm>
            <a:prstGeom prst="straightConnector1">
              <a:avLst/>
            </a:prstGeom>
            <a:solidFill>
              <a:srgbClr val="FFFFFF"/>
            </a:solidFill>
            <a:ln w="7150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5" name="Google Shape;205;p17"/>
            <p:cNvCxnSpPr/>
            <p:nvPr/>
          </p:nvCxnSpPr>
          <p:spPr>
            <a:xfrm>
              <a:off x="0" y="-57150"/>
              <a:ext cx="0" cy="114300"/>
            </a:xfrm>
            <a:prstGeom prst="straightConnector1">
              <a:avLst/>
            </a:prstGeom>
            <a:solidFill>
              <a:srgbClr val="FFFFFF"/>
            </a:solidFill>
            <a:ln w="7150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6" name="Google Shape;206;p17"/>
          <p:cNvGrpSpPr/>
          <p:nvPr/>
        </p:nvGrpSpPr>
        <p:grpSpPr>
          <a:xfrm>
            <a:off x="8610600" y="4629150"/>
            <a:ext cx="114300" cy="114300"/>
            <a:chOff x="-57150" y="-57150"/>
            <a:chExt cx="114300" cy="114300"/>
          </a:xfrm>
        </p:grpSpPr>
        <p:cxnSp>
          <p:nvCxnSpPr>
            <p:cNvPr id="207" name="Google Shape;207;p17"/>
            <p:cNvCxnSpPr/>
            <p:nvPr/>
          </p:nvCxnSpPr>
          <p:spPr>
            <a:xfrm>
              <a:off x="-57150" y="0"/>
              <a:ext cx="114300" cy="0"/>
            </a:xfrm>
            <a:prstGeom prst="straightConnector1">
              <a:avLst/>
            </a:prstGeom>
            <a:solidFill>
              <a:srgbClr val="FFFFFF"/>
            </a:solidFill>
            <a:ln w="7150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8" name="Google Shape;208;p17"/>
            <p:cNvCxnSpPr/>
            <p:nvPr/>
          </p:nvCxnSpPr>
          <p:spPr>
            <a:xfrm>
              <a:off x="0" y="-57150"/>
              <a:ext cx="0" cy="114300"/>
            </a:xfrm>
            <a:prstGeom prst="straightConnector1">
              <a:avLst/>
            </a:prstGeom>
            <a:solidFill>
              <a:srgbClr val="FFFFFF"/>
            </a:solidFill>
            <a:ln w="7150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09" name="Google Shape;209;p17"/>
          <p:cNvSpPr txBox="1"/>
          <p:nvPr/>
        </p:nvSpPr>
        <p:spPr>
          <a:xfrm>
            <a:off x="476250" y="17145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 ARCHITECTURE &amp; DATA INGESTION</a:t>
            </a:r>
            <a:endParaRPr sz="750" b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10" name="Google Shape;210;p17"/>
          <p:cNvSpPr txBox="1"/>
          <p:nvPr/>
        </p:nvSpPr>
        <p:spPr>
          <a:xfrm>
            <a:off x="476250" y="361950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50" b="1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Audio Mixing &amp; Streaming Pipeline</a:t>
            </a:r>
            <a:endParaRPr sz="2250" b="1">
              <a:solidFill>
                <a:srgbClr val="1A1A1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211" name="Google Shape;211;p17"/>
          <p:cNvCxnSpPr/>
          <p:nvPr/>
        </p:nvCxnSpPr>
        <p:spPr>
          <a:xfrm>
            <a:off x="476250" y="952500"/>
            <a:ext cx="81915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12" name="Google Shape;212;p17"/>
          <p:cNvGrpSpPr/>
          <p:nvPr/>
        </p:nvGrpSpPr>
        <p:grpSpPr>
          <a:xfrm>
            <a:off x="476250" y="1381125"/>
            <a:ext cx="1143000" cy="2762250"/>
            <a:chOff x="476250" y="1381125"/>
            <a:chExt cx="1143000" cy="2762250"/>
          </a:xfrm>
        </p:grpSpPr>
        <p:sp>
          <p:nvSpPr>
            <p:cNvPr id="213" name="Google Shape;213;p17"/>
            <p:cNvSpPr txBox="1"/>
            <p:nvPr/>
          </p:nvSpPr>
          <p:spPr>
            <a:xfrm>
              <a:off x="476250" y="1381125"/>
              <a:ext cx="1143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5" b="0">
                  <a:solidFill>
                    <a:srgbClr val="595959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01 / CAPTURE</a:t>
              </a:r>
              <a:endParaRPr sz="825" b="0">
                <a:solidFill>
                  <a:srgbClr val="595959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cxnSp>
          <p:nvCxnSpPr>
            <p:cNvPr id="214" name="Google Shape;214;p17"/>
            <p:cNvCxnSpPr/>
            <p:nvPr/>
          </p:nvCxnSpPr>
          <p:spPr>
            <a:xfrm>
              <a:off x="476250" y="1571625"/>
              <a:ext cx="1143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15" name="Google Shape;215;p17"/>
            <p:cNvSpPr txBox="1"/>
            <p:nvPr/>
          </p:nvSpPr>
          <p:spPr>
            <a:xfrm>
              <a:off x="476250" y="1666875"/>
              <a:ext cx="1143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5" b="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Dual-Source Mixing</a:t>
              </a:r>
              <a:endParaRPr sz="975" b="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16" name="Google Shape;216;p17"/>
            <p:cNvSpPr txBox="1"/>
            <p:nvPr/>
          </p:nvSpPr>
          <p:spPr>
            <a:xfrm>
              <a:off x="476250" y="2238375"/>
              <a:ext cx="1143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63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Uses </a:t>
              </a:r>
              <a:r>
                <a:rPr lang="en" sz="750" b="0">
                  <a:solidFill>
                    <a:srgbClr val="595959"/>
                  </a:solidFill>
                  <a:highlight>
                    <a:srgbClr val="E0E0D8"/>
                  </a:highlight>
                  <a:latin typeface="JetBrains Mono"/>
                  <a:ea typeface="JetBrains Mono"/>
                  <a:cs typeface="JetBrains Mono"/>
                  <a:sym typeface="JetBrains Mono"/>
                </a:rPr>
                <a:t>tabCapture</a:t>
              </a:r>
              <a:r>
                <a:rPr lang="en" sz="863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to grab browser audio.</a:t>
              </a:r>
              <a:endParaRPr sz="863" b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863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Merges it with the local mic stream via </a:t>
              </a:r>
              <a:r>
                <a:rPr lang="en" sz="750" b="0">
                  <a:solidFill>
                    <a:srgbClr val="595959"/>
                  </a:solidFill>
                  <a:highlight>
                    <a:srgbClr val="E0E0D8"/>
                  </a:highlight>
                  <a:latin typeface="JetBrains Mono"/>
                  <a:ea typeface="JetBrains Mono"/>
                  <a:cs typeface="JetBrains Mono"/>
                  <a:sym typeface="JetBrains Mono"/>
                </a:rPr>
                <a:t>AudioContext</a:t>
              </a:r>
              <a:r>
                <a:rPr lang="en" sz="863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863" b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7" name="Google Shape;217;p17"/>
          <p:cNvGrpSpPr/>
          <p:nvPr/>
        </p:nvGrpSpPr>
        <p:grpSpPr>
          <a:xfrm>
            <a:off x="2000250" y="1381125"/>
            <a:ext cx="1143000" cy="2762250"/>
            <a:chOff x="2000250" y="1381125"/>
            <a:chExt cx="1143000" cy="2762250"/>
          </a:xfrm>
        </p:grpSpPr>
        <p:sp>
          <p:nvSpPr>
            <p:cNvPr id="218" name="Google Shape;218;p17"/>
            <p:cNvSpPr txBox="1"/>
            <p:nvPr/>
          </p:nvSpPr>
          <p:spPr>
            <a:xfrm>
              <a:off x="2000250" y="1381125"/>
              <a:ext cx="1143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5" b="0">
                  <a:solidFill>
                    <a:srgbClr val="595959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02 / ENCODE</a:t>
              </a:r>
              <a:endParaRPr sz="825" b="0">
                <a:solidFill>
                  <a:srgbClr val="595959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cxnSp>
          <p:nvCxnSpPr>
            <p:cNvPr id="219" name="Google Shape;219;p17"/>
            <p:cNvCxnSpPr/>
            <p:nvPr/>
          </p:nvCxnSpPr>
          <p:spPr>
            <a:xfrm>
              <a:off x="2000250" y="1571625"/>
              <a:ext cx="1143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0" name="Google Shape;220;p17"/>
            <p:cNvSpPr txBox="1"/>
            <p:nvPr/>
          </p:nvSpPr>
          <p:spPr>
            <a:xfrm>
              <a:off x="2000250" y="1666875"/>
              <a:ext cx="1143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5" b="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PCM Conversion</a:t>
              </a:r>
              <a:endParaRPr sz="975" b="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21" name="Google Shape;221;p17"/>
            <p:cNvSpPr txBox="1"/>
            <p:nvPr/>
          </p:nvSpPr>
          <p:spPr>
            <a:xfrm>
              <a:off x="2000250" y="2238375"/>
              <a:ext cx="1143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63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Performs real-time </a:t>
              </a:r>
              <a:r>
                <a:rPr lang="en" sz="750" b="0">
                  <a:solidFill>
                    <a:srgbClr val="595959"/>
                  </a:solidFill>
                  <a:highlight>
                    <a:srgbClr val="E0E0D8"/>
                  </a:highlight>
                  <a:latin typeface="JetBrains Mono"/>
                  <a:ea typeface="JetBrains Mono"/>
                  <a:cs typeface="JetBrains Mono"/>
                  <a:sym typeface="JetBrains Mono"/>
                </a:rPr>
                <a:t>Float32</a:t>
              </a:r>
              <a:r>
                <a:rPr lang="en" sz="863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to </a:t>
              </a:r>
              <a:r>
                <a:rPr lang="en" sz="750" b="0">
                  <a:solidFill>
                    <a:srgbClr val="595959"/>
                  </a:solidFill>
                  <a:highlight>
                    <a:srgbClr val="E0E0D8"/>
                  </a:highlight>
                  <a:latin typeface="JetBrains Mono"/>
                  <a:ea typeface="JetBrains Mono"/>
                  <a:cs typeface="JetBrains Mono"/>
                  <a:sym typeface="JetBrains Mono"/>
                </a:rPr>
                <a:t>Int16</a:t>
              </a:r>
              <a:r>
                <a:rPr lang="en" sz="863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conversion.</a:t>
              </a:r>
              <a:endParaRPr sz="863" b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863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Translates native Web Audio into 16-bit Signed PCM integers.</a:t>
              </a:r>
              <a:endParaRPr sz="863" b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2" name="Google Shape;222;p17"/>
          <p:cNvGrpSpPr/>
          <p:nvPr/>
        </p:nvGrpSpPr>
        <p:grpSpPr>
          <a:xfrm>
            <a:off x="3524250" y="1381125"/>
            <a:ext cx="1143000" cy="2762250"/>
            <a:chOff x="3524250" y="1381125"/>
            <a:chExt cx="1143000" cy="2762250"/>
          </a:xfrm>
        </p:grpSpPr>
        <p:sp>
          <p:nvSpPr>
            <p:cNvPr id="223" name="Google Shape;223;p17"/>
            <p:cNvSpPr txBox="1"/>
            <p:nvPr/>
          </p:nvSpPr>
          <p:spPr>
            <a:xfrm>
              <a:off x="3524250" y="1381125"/>
              <a:ext cx="1143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5" b="0">
                  <a:solidFill>
                    <a:srgbClr val="595959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03 / STREAM</a:t>
              </a:r>
              <a:endParaRPr sz="825" b="0">
                <a:solidFill>
                  <a:srgbClr val="595959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cxnSp>
          <p:nvCxnSpPr>
            <p:cNvPr id="224" name="Google Shape;224;p17"/>
            <p:cNvCxnSpPr/>
            <p:nvPr/>
          </p:nvCxnSpPr>
          <p:spPr>
            <a:xfrm>
              <a:off x="3524250" y="1571625"/>
              <a:ext cx="1143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5" name="Google Shape;225;p17"/>
            <p:cNvSpPr txBox="1"/>
            <p:nvPr/>
          </p:nvSpPr>
          <p:spPr>
            <a:xfrm>
              <a:off x="3524250" y="1666875"/>
              <a:ext cx="1143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5" b="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3s Buffered Chunking</a:t>
              </a:r>
              <a:endParaRPr sz="975" b="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26" name="Google Shape;226;p17"/>
            <p:cNvSpPr txBox="1"/>
            <p:nvPr/>
          </p:nvSpPr>
          <p:spPr>
            <a:xfrm>
              <a:off x="3524250" y="2238375"/>
              <a:ext cx="1143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63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Accumulates PCM buffers locally to maintain a flat memory footprint.</a:t>
              </a:r>
              <a:endParaRPr sz="863" b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863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Posts 3-second binary octet-streams to the server chunk endpoint.</a:t>
              </a:r>
              <a:endParaRPr sz="863" b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7" name="Google Shape;227;p17"/>
          <p:cNvGrpSpPr/>
          <p:nvPr/>
        </p:nvGrpSpPr>
        <p:grpSpPr>
          <a:xfrm>
            <a:off x="4981463" y="1323975"/>
            <a:ext cx="3743438" cy="3152925"/>
            <a:chOff x="4981463" y="1323975"/>
            <a:chExt cx="3743438" cy="3152925"/>
          </a:xfrm>
        </p:grpSpPr>
        <p:sp>
          <p:nvSpPr>
            <p:cNvPr id="228" name="Google Shape;228;p17"/>
            <p:cNvSpPr/>
            <p:nvPr/>
          </p:nvSpPr>
          <p:spPr>
            <a:xfrm>
              <a:off x="5048250" y="1381125"/>
              <a:ext cx="3619500" cy="2714700"/>
            </a:xfrm>
            <a:prstGeom prst="rect">
              <a:avLst/>
            </a:prstGeom>
            <a:solidFill>
              <a:srgbClr val="F9F9F7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9" name="Google Shape;229;p17"/>
            <p:cNvGrpSpPr/>
            <p:nvPr/>
          </p:nvGrpSpPr>
          <p:grpSpPr>
            <a:xfrm>
              <a:off x="4991100" y="1323975"/>
              <a:ext cx="114300" cy="114300"/>
              <a:chOff x="-57150" y="-57150"/>
              <a:chExt cx="114300" cy="114300"/>
            </a:xfrm>
          </p:grpSpPr>
          <p:cxnSp>
            <p:nvCxnSpPr>
              <p:cNvPr id="230" name="Google Shape;230;p17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w="7150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1" name="Google Shape;231;p17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7150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232" name="Google Shape;232;p17"/>
            <p:cNvGrpSpPr/>
            <p:nvPr/>
          </p:nvGrpSpPr>
          <p:grpSpPr>
            <a:xfrm>
              <a:off x="8610600" y="1323975"/>
              <a:ext cx="114300" cy="114300"/>
              <a:chOff x="-57150" y="-57150"/>
              <a:chExt cx="114300" cy="114300"/>
            </a:xfrm>
          </p:grpSpPr>
          <p:cxnSp>
            <p:nvCxnSpPr>
              <p:cNvPr id="233" name="Google Shape;233;p17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w="7150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4" name="Google Shape;234;p17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7150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235" name="Google Shape;235;p17"/>
            <p:cNvGrpSpPr/>
            <p:nvPr/>
          </p:nvGrpSpPr>
          <p:grpSpPr>
            <a:xfrm>
              <a:off x="4991100" y="4038600"/>
              <a:ext cx="114300" cy="114300"/>
              <a:chOff x="-57150" y="-57150"/>
              <a:chExt cx="114300" cy="114300"/>
            </a:xfrm>
          </p:grpSpPr>
          <p:cxnSp>
            <p:nvCxnSpPr>
              <p:cNvPr id="236" name="Google Shape;236;p17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w="7150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7" name="Google Shape;237;p17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7150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238" name="Google Shape;238;p17"/>
            <p:cNvGrpSpPr/>
            <p:nvPr/>
          </p:nvGrpSpPr>
          <p:grpSpPr>
            <a:xfrm>
              <a:off x="8610600" y="4038600"/>
              <a:ext cx="114300" cy="114300"/>
              <a:chOff x="-57150" y="-57150"/>
              <a:chExt cx="114300" cy="114300"/>
            </a:xfrm>
          </p:grpSpPr>
          <p:cxnSp>
            <p:nvCxnSpPr>
              <p:cNvPr id="239" name="Google Shape;239;p17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w="7150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40" name="Google Shape;240;p17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7150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pic>
          <p:nvPicPr>
            <p:cNvPr id="241" name="Google Shape;241;p17"/>
            <p:cNvPicPr preferRelativeResize="0"/>
            <p:nvPr/>
          </p:nvPicPr>
          <p:blipFill rotWithShape="1">
            <a:blip r:embed="rId4">
              <a:alphaModFix/>
            </a:blip>
            <a:srcRect l="90" r="90"/>
            <a:stretch/>
          </p:blipFill>
          <p:spPr>
            <a:xfrm>
              <a:off x="4981463" y="1390675"/>
              <a:ext cx="3600600" cy="269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17"/>
            <p:cNvSpPr txBox="1"/>
            <p:nvPr/>
          </p:nvSpPr>
          <p:spPr>
            <a:xfrm>
              <a:off x="5048250" y="4191000"/>
              <a:ext cx="361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0">
                  <a:solidFill>
                    <a:srgbClr val="59595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FIG 01: DUAL-SOURCE SIGNAL SUMMING &amp; MIXING SCHEMA</a:t>
              </a:r>
              <a:endParaRPr sz="750" b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243" name="Google Shape;243;p17"/>
          <p:cNvGrpSpPr/>
          <p:nvPr/>
        </p:nvGrpSpPr>
        <p:grpSpPr>
          <a:xfrm>
            <a:off x="471488" y="4524375"/>
            <a:ext cx="8201100" cy="52463"/>
            <a:chOff x="471488" y="4524375"/>
            <a:chExt cx="8201100" cy="52463"/>
          </a:xfrm>
        </p:grpSpPr>
        <p:pic>
          <p:nvPicPr>
            <p:cNvPr id="244" name="Google Shape;244;p1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76250" y="4567238"/>
              <a:ext cx="81915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1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71488" y="4524375"/>
              <a:ext cx="9600" cy="47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p1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423988" y="4543425"/>
              <a:ext cx="9600" cy="2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1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376488" y="4543425"/>
              <a:ext cx="9600" cy="2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1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328988" y="4543425"/>
              <a:ext cx="9600" cy="2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1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281488" y="4524375"/>
              <a:ext cx="9600" cy="47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" name="Google Shape;250;p1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233988" y="4543425"/>
              <a:ext cx="9600" cy="2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1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186488" y="4543425"/>
              <a:ext cx="9600" cy="2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" name="Google Shape;252;p1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138988" y="4543425"/>
              <a:ext cx="9600" cy="2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3" name="Google Shape;253;p1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091488" y="4543425"/>
              <a:ext cx="9600" cy="2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1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662988" y="4524375"/>
              <a:ext cx="9600" cy="47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1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60" name="Google Shape;260;p1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9F9F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61" name="Google Shape;261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62" name="Google Shape;262;p18"/>
            <p:cNvCxnSpPr/>
            <p:nvPr/>
          </p:nvCxnSpPr>
          <p:spPr>
            <a:xfrm>
              <a:off x="457200" y="9525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63" name="Google Shape;263;p18"/>
            <p:cNvGrpSpPr/>
            <p:nvPr/>
          </p:nvGrpSpPr>
          <p:grpSpPr>
            <a:xfrm>
              <a:off x="8629650" y="400050"/>
              <a:ext cx="114300" cy="114300"/>
              <a:chOff x="-57150" y="-57150"/>
              <a:chExt cx="114300" cy="114300"/>
            </a:xfrm>
          </p:grpSpPr>
          <p:cxnSp>
            <p:nvCxnSpPr>
              <p:cNvPr id="264" name="Google Shape;264;p18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65" name="Google Shape;265;p18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266" name="Google Shape;266;p18"/>
            <p:cNvCxnSpPr/>
            <p:nvPr/>
          </p:nvCxnSpPr>
          <p:spPr>
            <a:xfrm>
              <a:off x="8686800" y="457200"/>
              <a:ext cx="0" cy="15240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67" name="Google Shape;267;p18"/>
          <p:cNvSpPr txBox="1"/>
          <p:nvPr/>
        </p:nvSpPr>
        <p:spPr>
          <a:xfrm>
            <a:off x="457200" y="30480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WAV Reconstruction &amp; Gemini Notes Engine</a:t>
            </a:r>
            <a:endParaRPr sz="2400" b="1">
              <a:solidFill>
                <a:srgbClr val="1A1A1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268" name="Google Shape;268;p18"/>
          <p:cNvGrpSpPr/>
          <p:nvPr/>
        </p:nvGrpSpPr>
        <p:grpSpPr>
          <a:xfrm>
            <a:off x="457200" y="1190625"/>
            <a:ext cx="2438400" cy="1428900"/>
            <a:chOff x="0" y="0"/>
            <a:chExt cx="2438400" cy="1428900"/>
          </a:xfrm>
        </p:grpSpPr>
        <p:sp>
          <p:nvSpPr>
            <p:cNvPr id="269" name="Google Shape;269;p18"/>
            <p:cNvSpPr/>
            <p:nvPr/>
          </p:nvSpPr>
          <p:spPr>
            <a:xfrm>
              <a:off x="0" y="0"/>
              <a:ext cx="2438400" cy="1428900"/>
            </a:xfrm>
            <a:prstGeom prst="rect">
              <a:avLst/>
            </a:prstGeom>
            <a:solidFill>
              <a:srgbClr val="F9F9F7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8"/>
            <p:cNvSpPr/>
            <p:nvPr/>
          </p:nvSpPr>
          <p:spPr>
            <a:xfrm>
              <a:off x="0" y="0"/>
              <a:ext cx="2438400" cy="2286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8"/>
            <p:cNvSpPr txBox="1"/>
            <p:nvPr/>
          </p:nvSpPr>
          <p:spPr>
            <a:xfrm>
              <a:off x="95250" y="38100"/>
              <a:ext cx="22479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0">
                  <a:solidFill>
                    <a:srgbClr val="F9F9F7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SYS_COMPILE_01</a:t>
              </a:r>
              <a:endParaRPr sz="750" b="0">
                <a:solidFill>
                  <a:srgbClr val="F9F9F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272" name="Google Shape;272;p18"/>
            <p:cNvSpPr txBox="1"/>
            <p:nvPr/>
          </p:nvSpPr>
          <p:spPr>
            <a:xfrm>
              <a:off x="114300" y="323850"/>
              <a:ext cx="2209800" cy="100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5" b="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01. Chunk Assembly</a:t>
              </a:r>
              <a:endParaRPr sz="975" b="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863" b="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The server appends incoming chunks directly to disk for dynamic WAV assembly.</a:t>
              </a:r>
              <a:endParaRPr sz="863" b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3" name="Google Shape;273;p18"/>
          <p:cNvGrpSpPr/>
          <p:nvPr/>
        </p:nvGrpSpPr>
        <p:grpSpPr>
          <a:xfrm>
            <a:off x="3352800" y="1190625"/>
            <a:ext cx="2438400" cy="1428900"/>
            <a:chOff x="0" y="0"/>
            <a:chExt cx="2438400" cy="1428900"/>
          </a:xfrm>
        </p:grpSpPr>
        <p:sp>
          <p:nvSpPr>
            <p:cNvPr id="274" name="Google Shape;274;p18"/>
            <p:cNvSpPr/>
            <p:nvPr/>
          </p:nvSpPr>
          <p:spPr>
            <a:xfrm>
              <a:off x="0" y="0"/>
              <a:ext cx="2438400" cy="1428900"/>
            </a:xfrm>
            <a:prstGeom prst="rect">
              <a:avLst/>
            </a:prstGeom>
            <a:solidFill>
              <a:srgbClr val="F9F9F7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8"/>
            <p:cNvSpPr/>
            <p:nvPr/>
          </p:nvSpPr>
          <p:spPr>
            <a:xfrm>
              <a:off x="0" y="0"/>
              <a:ext cx="2438400" cy="2286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8"/>
            <p:cNvSpPr txBox="1"/>
            <p:nvPr/>
          </p:nvSpPr>
          <p:spPr>
            <a:xfrm>
              <a:off x="95250" y="38100"/>
              <a:ext cx="22479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0">
                  <a:solidFill>
                    <a:srgbClr val="F9F9F7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HEADER_PREPEND_02</a:t>
              </a:r>
              <a:endParaRPr sz="750" b="0">
                <a:solidFill>
                  <a:srgbClr val="F9F9F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277" name="Google Shape;277;p18"/>
            <p:cNvSpPr txBox="1"/>
            <p:nvPr/>
          </p:nvSpPr>
          <p:spPr>
            <a:xfrm>
              <a:off x="114300" y="323850"/>
              <a:ext cx="2209800" cy="100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5" b="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02. Prepend Header</a:t>
              </a:r>
              <a:endParaRPr sz="975" b="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863" b="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Upon completion, it prepends a dynamic 44-byte WAV header matching the client hardware sample rate.</a:t>
              </a:r>
              <a:endParaRPr sz="863" b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8" name="Google Shape;278;p18"/>
          <p:cNvGrpSpPr/>
          <p:nvPr/>
        </p:nvGrpSpPr>
        <p:grpSpPr>
          <a:xfrm>
            <a:off x="6248400" y="1190625"/>
            <a:ext cx="2438400" cy="1428900"/>
            <a:chOff x="0" y="0"/>
            <a:chExt cx="2438400" cy="1428900"/>
          </a:xfrm>
        </p:grpSpPr>
        <p:sp>
          <p:nvSpPr>
            <p:cNvPr id="279" name="Google Shape;279;p18"/>
            <p:cNvSpPr/>
            <p:nvPr/>
          </p:nvSpPr>
          <p:spPr>
            <a:xfrm>
              <a:off x="0" y="0"/>
              <a:ext cx="2438400" cy="1428900"/>
            </a:xfrm>
            <a:prstGeom prst="rect">
              <a:avLst/>
            </a:prstGeom>
            <a:solidFill>
              <a:srgbClr val="F9F9F7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8"/>
            <p:cNvSpPr/>
            <p:nvPr/>
          </p:nvSpPr>
          <p:spPr>
            <a:xfrm>
              <a:off x="0" y="0"/>
              <a:ext cx="2438400" cy="2286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8"/>
            <p:cNvSpPr txBox="1"/>
            <p:nvPr/>
          </p:nvSpPr>
          <p:spPr>
            <a:xfrm>
              <a:off x="95250" y="38100"/>
              <a:ext cx="22479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0">
                  <a:solidFill>
                    <a:srgbClr val="F9F9F7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API_HANDSHAKE_03</a:t>
              </a:r>
              <a:endParaRPr sz="750" b="0">
                <a:solidFill>
                  <a:srgbClr val="F9F9F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282" name="Google Shape;282;p18"/>
            <p:cNvSpPr txBox="1"/>
            <p:nvPr/>
          </p:nvSpPr>
          <p:spPr>
            <a:xfrm>
              <a:off x="114300" y="323850"/>
              <a:ext cx="2209800" cy="100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5" b="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03. File Upload</a:t>
              </a:r>
              <a:endParaRPr sz="975" b="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863" b="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The fully compiled WAV file is uploaded to the Gemini File Manager for preprocessing.</a:t>
              </a:r>
              <a:endParaRPr sz="863" b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3" name="Google Shape;283;p18"/>
          <p:cNvGrpSpPr/>
          <p:nvPr/>
        </p:nvGrpSpPr>
        <p:grpSpPr>
          <a:xfrm>
            <a:off x="3352800" y="3000375"/>
            <a:ext cx="2438400" cy="1571700"/>
            <a:chOff x="0" y="0"/>
            <a:chExt cx="2438400" cy="1571700"/>
          </a:xfrm>
        </p:grpSpPr>
        <p:sp>
          <p:nvSpPr>
            <p:cNvPr id="284" name="Google Shape;284;p18"/>
            <p:cNvSpPr/>
            <p:nvPr/>
          </p:nvSpPr>
          <p:spPr>
            <a:xfrm>
              <a:off x="0" y="0"/>
              <a:ext cx="2438400" cy="1571700"/>
            </a:xfrm>
            <a:prstGeom prst="rect">
              <a:avLst/>
            </a:prstGeom>
            <a:solidFill>
              <a:srgbClr val="F9F9F7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8"/>
            <p:cNvSpPr/>
            <p:nvPr/>
          </p:nvSpPr>
          <p:spPr>
            <a:xfrm>
              <a:off x="0" y="0"/>
              <a:ext cx="2438400" cy="2286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8"/>
            <p:cNvSpPr txBox="1"/>
            <p:nvPr/>
          </p:nvSpPr>
          <p:spPr>
            <a:xfrm>
              <a:off x="95250" y="38100"/>
              <a:ext cx="22479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0">
                  <a:solidFill>
                    <a:srgbClr val="F9F9F7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FALLBACK_QUEUE_04</a:t>
              </a:r>
              <a:endParaRPr sz="750" b="0">
                <a:solidFill>
                  <a:srgbClr val="F9F9F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287" name="Google Shape;287;p18"/>
            <p:cNvSpPr txBox="1"/>
            <p:nvPr/>
          </p:nvSpPr>
          <p:spPr>
            <a:xfrm>
              <a:off x="114300" y="323850"/>
              <a:ext cx="2209800" cy="11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5" b="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04. Fallback Queue</a:t>
              </a:r>
              <a:endParaRPr sz="975" b="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863" b="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The system implements a multi-model fallback queue, retrying across gemini-2.5-flash and gemini-2.0-flash for high availability.</a:t>
              </a:r>
              <a:endParaRPr sz="863" b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8" name="Google Shape;288;p18"/>
          <p:cNvGrpSpPr/>
          <p:nvPr/>
        </p:nvGrpSpPr>
        <p:grpSpPr>
          <a:xfrm>
            <a:off x="457200" y="3000375"/>
            <a:ext cx="2438400" cy="1571700"/>
            <a:chOff x="0" y="0"/>
            <a:chExt cx="2438400" cy="1571700"/>
          </a:xfrm>
        </p:grpSpPr>
        <p:sp>
          <p:nvSpPr>
            <p:cNvPr id="289" name="Google Shape;289;p18"/>
            <p:cNvSpPr/>
            <p:nvPr/>
          </p:nvSpPr>
          <p:spPr>
            <a:xfrm>
              <a:off x="0" y="0"/>
              <a:ext cx="2438400" cy="1571700"/>
            </a:xfrm>
            <a:prstGeom prst="rect">
              <a:avLst/>
            </a:prstGeom>
            <a:solidFill>
              <a:srgbClr val="F9F9F7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8"/>
            <p:cNvSpPr/>
            <p:nvPr/>
          </p:nvSpPr>
          <p:spPr>
            <a:xfrm>
              <a:off x="0" y="0"/>
              <a:ext cx="2438400" cy="2286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8"/>
            <p:cNvSpPr txBox="1"/>
            <p:nvPr/>
          </p:nvSpPr>
          <p:spPr>
            <a:xfrm>
              <a:off x="95250" y="38100"/>
              <a:ext cx="22479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0">
                  <a:solidFill>
                    <a:srgbClr val="F9F9F7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ASSET_PURGE_05</a:t>
              </a:r>
              <a:endParaRPr sz="750" b="0">
                <a:solidFill>
                  <a:srgbClr val="F9F9F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292" name="Google Shape;292;p18"/>
            <p:cNvSpPr txBox="1"/>
            <p:nvPr/>
          </p:nvSpPr>
          <p:spPr>
            <a:xfrm>
              <a:off x="114300" y="323850"/>
              <a:ext cx="2209800" cy="11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5" b="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05. Storage Cleanup</a:t>
              </a:r>
              <a:endParaRPr sz="975" b="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863" b="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Automatic storage cleanup purges the temporary WAV file from Google Cloud immediately after notes are generated to protect data privacy.</a:t>
              </a:r>
              <a:endParaRPr sz="863" b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3" name="Google Shape;293;p18"/>
          <p:cNvGrpSpPr/>
          <p:nvPr/>
        </p:nvGrpSpPr>
        <p:grpSpPr>
          <a:xfrm>
            <a:off x="6619875" y="2943225"/>
            <a:ext cx="1685925" cy="1685925"/>
            <a:chOff x="-57150" y="-57150"/>
            <a:chExt cx="1685925" cy="1685925"/>
          </a:xfrm>
        </p:grpSpPr>
        <p:sp>
          <p:nvSpPr>
            <p:cNvPr id="294" name="Google Shape;294;p18"/>
            <p:cNvSpPr/>
            <p:nvPr/>
          </p:nvSpPr>
          <p:spPr>
            <a:xfrm>
              <a:off x="0" y="0"/>
              <a:ext cx="1571700" cy="1571700"/>
            </a:xfrm>
            <a:prstGeom prst="rect">
              <a:avLst/>
            </a:prstGeom>
            <a:solidFill>
              <a:srgbClr val="E0E0D8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95" name="Google Shape;295;p1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525" y="9525"/>
              <a:ext cx="1552500" cy="1552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6" name="Google Shape;296;p18"/>
            <p:cNvGrpSpPr/>
            <p:nvPr/>
          </p:nvGrpSpPr>
          <p:grpSpPr>
            <a:xfrm>
              <a:off x="-57150" y="-57150"/>
              <a:ext cx="114300" cy="114300"/>
              <a:chOff x="-57150" y="-57150"/>
              <a:chExt cx="114300" cy="114300"/>
            </a:xfrm>
          </p:grpSpPr>
          <p:cxnSp>
            <p:nvCxnSpPr>
              <p:cNvPr id="297" name="Google Shape;297;p18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8" name="Google Shape;298;p18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299" name="Google Shape;299;p18"/>
            <p:cNvGrpSpPr/>
            <p:nvPr/>
          </p:nvGrpSpPr>
          <p:grpSpPr>
            <a:xfrm>
              <a:off x="1514475" y="-57150"/>
              <a:ext cx="114300" cy="114300"/>
              <a:chOff x="-57150" y="-57150"/>
              <a:chExt cx="114300" cy="114300"/>
            </a:xfrm>
          </p:grpSpPr>
          <p:cxnSp>
            <p:nvCxnSpPr>
              <p:cNvPr id="300" name="Google Shape;300;p18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1" name="Google Shape;301;p18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302" name="Google Shape;302;p18"/>
            <p:cNvGrpSpPr/>
            <p:nvPr/>
          </p:nvGrpSpPr>
          <p:grpSpPr>
            <a:xfrm>
              <a:off x="-57150" y="1514475"/>
              <a:ext cx="114300" cy="114300"/>
              <a:chOff x="-57150" y="-57150"/>
              <a:chExt cx="114300" cy="114300"/>
            </a:xfrm>
          </p:grpSpPr>
          <p:cxnSp>
            <p:nvCxnSpPr>
              <p:cNvPr id="303" name="Google Shape;303;p18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4" name="Google Shape;304;p18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305" name="Google Shape;305;p18"/>
            <p:cNvGrpSpPr/>
            <p:nvPr/>
          </p:nvGrpSpPr>
          <p:grpSpPr>
            <a:xfrm>
              <a:off x="1514475" y="1514475"/>
              <a:ext cx="114300" cy="114300"/>
              <a:chOff x="-57150" y="-57150"/>
              <a:chExt cx="114300" cy="114300"/>
            </a:xfrm>
          </p:grpSpPr>
          <p:cxnSp>
            <p:nvCxnSpPr>
              <p:cNvPr id="306" name="Google Shape;306;p18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7" name="Google Shape;307;p18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3" name="Google Shape;313;p19"/>
          <p:cNvCxnSpPr/>
          <p:nvPr/>
        </p:nvCxnSpPr>
        <p:spPr>
          <a:xfrm>
            <a:off x="457200" y="952500"/>
            <a:ext cx="82296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14" name="Google Shape;314;p19"/>
          <p:cNvGrpSpPr/>
          <p:nvPr/>
        </p:nvGrpSpPr>
        <p:grpSpPr>
          <a:xfrm>
            <a:off x="8629650" y="400050"/>
            <a:ext cx="114300" cy="114300"/>
            <a:chOff x="-57150" y="-57150"/>
            <a:chExt cx="114300" cy="114300"/>
          </a:xfrm>
        </p:grpSpPr>
        <p:cxnSp>
          <p:nvCxnSpPr>
            <p:cNvPr id="315" name="Google Shape;315;p19"/>
            <p:cNvCxnSpPr/>
            <p:nvPr/>
          </p:nvCxnSpPr>
          <p:spPr>
            <a:xfrm>
              <a:off x="-57150" y="0"/>
              <a:ext cx="1143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6" name="Google Shape;316;p19"/>
            <p:cNvCxnSpPr/>
            <p:nvPr/>
          </p:nvCxnSpPr>
          <p:spPr>
            <a:xfrm>
              <a:off x="0" y="-57150"/>
              <a:ext cx="0" cy="11430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317" name="Google Shape;317;p19"/>
          <p:cNvCxnSpPr/>
          <p:nvPr/>
        </p:nvCxnSpPr>
        <p:spPr>
          <a:xfrm>
            <a:off x="8686800" y="457200"/>
            <a:ext cx="0" cy="15240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18" name="Google Shape;318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1233488"/>
            <a:ext cx="8210700" cy="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4614863"/>
            <a:ext cx="8210700" cy="9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0" name="Google Shape;320;p19"/>
          <p:cNvGrpSpPr/>
          <p:nvPr/>
        </p:nvGrpSpPr>
        <p:grpSpPr>
          <a:xfrm>
            <a:off x="457200" y="190500"/>
            <a:ext cx="6191400" cy="695250"/>
            <a:chOff x="457200" y="190500"/>
            <a:chExt cx="6191400" cy="695250"/>
          </a:xfrm>
        </p:grpSpPr>
        <p:sp>
          <p:nvSpPr>
            <p:cNvPr id="321" name="Google Shape;321;p19"/>
            <p:cNvSpPr txBox="1"/>
            <p:nvPr/>
          </p:nvSpPr>
          <p:spPr>
            <a:xfrm>
              <a:off x="457200" y="190500"/>
              <a:ext cx="47625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0">
                  <a:solidFill>
                    <a:srgbClr val="59595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[ DEPLOYMENT_LOG // REF: ENG-CH-03 ]</a:t>
              </a:r>
              <a:endParaRPr sz="750" b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322" name="Google Shape;322;p19"/>
            <p:cNvSpPr txBox="1"/>
            <p:nvPr/>
          </p:nvSpPr>
          <p:spPr>
            <a:xfrm>
              <a:off x="457200" y="361950"/>
              <a:ext cx="6191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1A1A1A"/>
                  </a:solidFill>
                  <a:latin typeface="Manrope"/>
                  <a:ea typeface="Manrope"/>
                  <a:cs typeface="Manrope"/>
                  <a:sym typeface="Manrope"/>
                </a:rPr>
                <a:t>Key Engineering Challenges &amp; Solutions</a:t>
              </a:r>
              <a:endParaRPr sz="2400" b="1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323" name="Google Shape;323;p19"/>
          <p:cNvGrpSpPr/>
          <p:nvPr/>
        </p:nvGrpSpPr>
        <p:grpSpPr>
          <a:xfrm>
            <a:off x="7000875" y="114300"/>
            <a:ext cx="1781325" cy="723900"/>
            <a:chOff x="0" y="0"/>
            <a:chExt cx="1781325" cy="723900"/>
          </a:xfrm>
        </p:grpSpPr>
        <p:pic>
          <p:nvPicPr>
            <p:cNvPr id="324" name="Google Shape;324;p1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0" y="376238"/>
              <a:ext cx="13335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" name="Google Shape;325;p1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66738" y="0"/>
              <a:ext cx="9600" cy="723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26" name="Google Shape;326;p19"/>
            <p:cNvGrpSpPr/>
            <p:nvPr/>
          </p:nvGrpSpPr>
          <p:grpSpPr>
            <a:xfrm rot="863074">
              <a:off x="250669" y="156911"/>
              <a:ext cx="641662" cy="448178"/>
              <a:chOff x="-342900" y="-342900"/>
              <a:chExt cx="685800" cy="685800"/>
            </a:xfrm>
          </p:grpSpPr>
          <p:sp>
            <p:nvSpPr>
              <p:cNvPr id="327" name="Google Shape;327;p19"/>
              <p:cNvSpPr/>
              <p:nvPr/>
            </p:nvSpPr>
            <p:spPr>
              <a:xfrm>
                <a:off x="-304800" y="-304800"/>
                <a:ext cx="609600" cy="6096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328" name="Google Shape;328;p19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-233362" y="-233362"/>
                <a:ext cx="466800" cy="466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9" name="Google Shape;329;p19"/>
              <p:cNvSpPr/>
              <p:nvPr/>
            </p:nvSpPr>
            <p:spPr>
              <a:xfrm>
                <a:off x="-133350" y="-133350"/>
                <a:ext cx="266700" cy="2667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19"/>
              <p:cNvSpPr/>
              <p:nvPr/>
            </p:nvSpPr>
            <p:spPr>
              <a:xfrm>
                <a:off x="-57150" y="-57150"/>
                <a:ext cx="114300" cy="1143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4300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9"/>
              <p:cNvSpPr/>
              <p:nvPr/>
            </p:nvSpPr>
            <p:spPr>
              <a:xfrm>
                <a:off x="-28575" y="-342900"/>
                <a:ext cx="57300" cy="76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19"/>
              <p:cNvSpPr/>
              <p:nvPr/>
            </p:nvSpPr>
            <p:spPr>
              <a:xfrm rot="1800000">
                <a:off x="123815" y="-302027"/>
                <a:ext cx="57300" cy="76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19"/>
              <p:cNvSpPr/>
              <p:nvPr/>
            </p:nvSpPr>
            <p:spPr>
              <a:xfrm rot="3600000">
                <a:off x="235352" y="-190435"/>
                <a:ext cx="57300" cy="76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19"/>
              <p:cNvSpPr/>
              <p:nvPr/>
            </p:nvSpPr>
            <p:spPr>
              <a:xfrm rot="5400000">
                <a:off x="276150" y="-38025"/>
                <a:ext cx="57300" cy="76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19"/>
              <p:cNvSpPr/>
              <p:nvPr/>
            </p:nvSpPr>
            <p:spPr>
              <a:xfrm rot="7200000">
                <a:off x="235277" y="114365"/>
                <a:ext cx="57300" cy="76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9"/>
              <p:cNvSpPr/>
              <p:nvPr/>
            </p:nvSpPr>
            <p:spPr>
              <a:xfrm rot="9000000">
                <a:off x="123685" y="225902"/>
                <a:ext cx="57300" cy="76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19"/>
              <p:cNvSpPr/>
              <p:nvPr/>
            </p:nvSpPr>
            <p:spPr>
              <a:xfrm rot="10800000">
                <a:off x="-28725" y="266700"/>
                <a:ext cx="57300" cy="76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19"/>
              <p:cNvSpPr/>
              <p:nvPr/>
            </p:nvSpPr>
            <p:spPr>
              <a:xfrm rot="-9000000">
                <a:off x="-181115" y="225827"/>
                <a:ext cx="57300" cy="76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9"/>
              <p:cNvSpPr/>
              <p:nvPr/>
            </p:nvSpPr>
            <p:spPr>
              <a:xfrm rot="-7200000">
                <a:off x="-292652" y="114235"/>
                <a:ext cx="57300" cy="76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19"/>
              <p:cNvSpPr/>
              <p:nvPr/>
            </p:nvSpPr>
            <p:spPr>
              <a:xfrm rot="-5400000">
                <a:off x="-333450" y="-38175"/>
                <a:ext cx="57300" cy="76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19"/>
              <p:cNvSpPr/>
              <p:nvPr/>
            </p:nvSpPr>
            <p:spPr>
              <a:xfrm rot="-3600000">
                <a:off x="-292577" y="-190565"/>
                <a:ext cx="57300" cy="76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9"/>
              <p:cNvSpPr/>
              <p:nvPr/>
            </p:nvSpPr>
            <p:spPr>
              <a:xfrm rot="-1800000">
                <a:off x="-180985" y="-302102"/>
                <a:ext cx="57300" cy="76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3" name="Google Shape;343;p19"/>
            <p:cNvGrpSpPr/>
            <p:nvPr/>
          </p:nvGrpSpPr>
          <p:grpSpPr>
            <a:xfrm rot="-503007">
              <a:off x="871504" y="453295"/>
              <a:ext cx="390592" cy="236410"/>
              <a:chOff x="-200025" y="-200025"/>
              <a:chExt cx="400050" cy="400050"/>
            </a:xfrm>
          </p:grpSpPr>
          <p:sp>
            <p:nvSpPr>
              <p:cNvPr id="344" name="Google Shape;344;p19"/>
              <p:cNvSpPr/>
              <p:nvPr/>
            </p:nvSpPr>
            <p:spPr>
              <a:xfrm>
                <a:off x="-171450" y="-1714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345" name="Google Shape;345;p19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-128587" y="-128587"/>
                <a:ext cx="257100" cy="257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6" name="Google Shape;346;p19"/>
              <p:cNvSpPr/>
              <p:nvPr/>
            </p:nvSpPr>
            <p:spPr>
              <a:xfrm>
                <a:off x="-38100" y="-38100"/>
                <a:ext cx="76200" cy="762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14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19"/>
              <p:cNvSpPr/>
              <p:nvPr/>
            </p:nvSpPr>
            <p:spPr>
              <a:xfrm>
                <a:off x="-19050" y="-200025"/>
                <a:ext cx="38100" cy="57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19"/>
              <p:cNvSpPr/>
              <p:nvPr/>
            </p:nvSpPr>
            <p:spPr>
              <a:xfrm rot="2700000">
                <a:off x="102130" y="-149830"/>
                <a:ext cx="38100" cy="57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19"/>
              <p:cNvSpPr/>
              <p:nvPr/>
            </p:nvSpPr>
            <p:spPr>
              <a:xfrm rot="5400000">
                <a:off x="152325" y="-28650"/>
                <a:ext cx="38100" cy="57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19"/>
              <p:cNvSpPr/>
              <p:nvPr/>
            </p:nvSpPr>
            <p:spPr>
              <a:xfrm rot="8100000">
                <a:off x="102130" y="92530"/>
                <a:ext cx="38100" cy="57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19"/>
              <p:cNvSpPr/>
              <p:nvPr/>
            </p:nvSpPr>
            <p:spPr>
              <a:xfrm rot="10800000">
                <a:off x="-19050" y="142725"/>
                <a:ext cx="38100" cy="57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19"/>
              <p:cNvSpPr/>
              <p:nvPr/>
            </p:nvSpPr>
            <p:spPr>
              <a:xfrm rot="-8100000">
                <a:off x="-140230" y="92530"/>
                <a:ext cx="38100" cy="57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19"/>
              <p:cNvSpPr/>
              <p:nvPr/>
            </p:nvSpPr>
            <p:spPr>
              <a:xfrm rot="-5400000">
                <a:off x="-190425" y="-28650"/>
                <a:ext cx="38100" cy="57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19"/>
              <p:cNvSpPr/>
              <p:nvPr/>
            </p:nvSpPr>
            <p:spPr>
              <a:xfrm rot="-2700000">
                <a:off x="-140230" y="-149830"/>
                <a:ext cx="38100" cy="57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5" name="Google Shape;355;p19"/>
            <p:cNvSpPr/>
            <p:nvPr/>
          </p:nvSpPr>
          <p:spPr>
            <a:xfrm>
              <a:off x="857250" y="76200"/>
              <a:ext cx="4287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6667" y="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7150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9"/>
            <p:cNvSpPr/>
            <p:nvPr/>
          </p:nvSpPr>
          <p:spPr>
            <a:xfrm>
              <a:off x="842963" y="176213"/>
              <a:ext cx="28500" cy="2850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9"/>
            <p:cNvSpPr txBox="1"/>
            <p:nvPr/>
          </p:nvSpPr>
          <p:spPr>
            <a:xfrm>
              <a:off x="1304925" y="9525"/>
              <a:ext cx="4764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0">
                  <a:solidFill>
                    <a:srgbClr val="1A1A1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Ø 64MM</a:t>
              </a:r>
              <a:endParaRPr sz="600" b="0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358" name="Google Shape;358;p19"/>
          <p:cNvGrpSpPr/>
          <p:nvPr/>
        </p:nvGrpSpPr>
        <p:grpSpPr>
          <a:xfrm>
            <a:off x="457200" y="1238250"/>
            <a:ext cx="2552700" cy="3381300"/>
            <a:chOff x="0" y="1238250"/>
            <a:chExt cx="2552700" cy="3381300"/>
          </a:xfrm>
        </p:grpSpPr>
        <p:sp>
          <p:nvSpPr>
            <p:cNvPr id="359" name="Google Shape;359;p19"/>
            <p:cNvSpPr/>
            <p:nvPr/>
          </p:nvSpPr>
          <p:spPr>
            <a:xfrm>
              <a:off x="0" y="1238250"/>
              <a:ext cx="2552700" cy="1285800"/>
            </a:xfrm>
            <a:prstGeom prst="rect">
              <a:avLst/>
            </a:prstGeom>
            <a:solidFill>
              <a:srgbClr val="F9F9F7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9"/>
            <p:cNvSpPr/>
            <p:nvPr/>
          </p:nvSpPr>
          <p:spPr>
            <a:xfrm>
              <a:off x="0" y="1238250"/>
              <a:ext cx="2552700" cy="2478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9"/>
            <p:cNvSpPr txBox="1"/>
            <p:nvPr/>
          </p:nvSpPr>
          <p:spPr>
            <a:xfrm>
              <a:off x="114300" y="1285875"/>
              <a:ext cx="23241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75" b="1">
                  <a:solidFill>
                    <a:srgbClr val="F9F9F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[ CHALLENGE 01 // POPUP ]</a:t>
              </a:r>
              <a:endParaRPr sz="675" b="1">
                <a:solidFill>
                  <a:srgbClr val="F9F9F7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362" name="Google Shape;362;p19"/>
            <p:cNvSpPr txBox="1"/>
            <p:nvPr/>
          </p:nvSpPr>
          <p:spPr>
            <a:xfrm>
              <a:off x="114300" y="1600200"/>
              <a:ext cx="23241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5" b="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Hardware Prompts Blocked</a:t>
              </a:r>
              <a:endParaRPr sz="975" b="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Chrome blocking hardware prompt popups.</a:t>
              </a:r>
              <a:endParaRPr sz="900" b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363" name="Google Shape;363;p19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271588" y="2524125"/>
              <a:ext cx="9600" cy="428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4" name="Google Shape;364;p19"/>
            <p:cNvSpPr/>
            <p:nvPr/>
          </p:nvSpPr>
          <p:spPr>
            <a:xfrm>
              <a:off x="895350" y="2647950"/>
              <a:ext cx="762000" cy="142800"/>
            </a:xfrm>
            <a:prstGeom prst="rect">
              <a:avLst/>
            </a:prstGeom>
            <a:solidFill>
              <a:srgbClr val="E0E0D8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9"/>
            <p:cNvSpPr txBox="1"/>
            <p:nvPr/>
          </p:nvSpPr>
          <p:spPr>
            <a:xfrm>
              <a:off x="895350" y="2647950"/>
              <a:ext cx="7620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1A1A1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RESOLUTION</a:t>
              </a:r>
              <a:endParaRPr sz="600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366" name="Google Shape;366;p19"/>
            <p:cNvSpPr/>
            <p:nvPr/>
          </p:nvSpPr>
          <p:spPr>
            <a:xfrm>
              <a:off x="1247775" y="2895600"/>
              <a:ext cx="573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9"/>
            <p:cNvSpPr/>
            <p:nvPr/>
          </p:nvSpPr>
          <p:spPr>
            <a:xfrm>
              <a:off x="0" y="2952750"/>
              <a:ext cx="2552700" cy="1666800"/>
            </a:xfrm>
            <a:prstGeom prst="rect">
              <a:avLst/>
            </a:prstGeom>
            <a:solidFill>
              <a:srgbClr val="F9F9F7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9"/>
            <p:cNvSpPr/>
            <p:nvPr/>
          </p:nvSpPr>
          <p:spPr>
            <a:xfrm>
              <a:off x="0" y="2952750"/>
              <a:ext cx="2552700" cy="2478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9"/>
            <p:cNvSpPr txBox="1"/>
            <p:nvPr/>
          </p:nvSpPr>
          <p:spPr>
            <a:xfrm>
              <a:off x="114300" y="3000375"/>
              <a:ext cx="23241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75" b="1">
                  <a:solidFill>
                    <a:srgbClr val="F9F9F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[ RESOLUTION 01 // FIX ]</a:t>
              </a:r>
              <a:endParaRPr sz="675" b="1">
                <a:solidFill>
                  <a:srgbClr val="F9F9F7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370" name="Google Shape;370;p19"/>
            <p:cNvSpPr txBox="1"/>
            <p:nvPr/>
          </p:nvSpPr>
          <p:spPr>
            <a:xfrm>
              <a:off x="114300" y="3314700"/>
              <a:ext cx="23241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5" b="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Secure Tab Redirection</a:t>
              </a:r>
              <a:endParaRPr sz="975" b="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Implementing a tab redirection to request permission in a secure window context.</a:t>
              </a:r>
              <a:endParaRPr sz="900" b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1" name="Google Shape;371;p19"/>
          <p:cNvGrpSpPr/>
          <p:nvPr/>
        </p:nvGrpSpPr>
        <p:grpSpPr>
          <a:xfrm>
            <a:off x="3295650" y="1238250"/>
            <a:ext cx="2552700" cy="3381300"/>
            <a:chOff x="0" y="1238250"/>
            <a:chExt cx="2552700" cy="3381300"/>
          </a:xfrm>
        </p:grpSpPr>
        <p:sp>
          <p:nvSpPr>
            <p:cNvPr id="372" name="Google Shape;372;p19"/>
            <p:cNvSpPr/>
            <p:nvPr/>
          </p:nvSpPr>
          <p:spPr>
            <a:xfrm>
              <a:off x="0" y="1238250"/>
              <a:ext cx="2552700" cy="1285800"/>
            </a:xfrm>
            <a:prstGeom prst="rect">
              <a:avLst/>
            </a:prstGeom>
            <a:solidFill>
              <a:srgbClr val="F9F9F7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9"/>
            <p:cNvSpPr/>
            <p:nvPr/>
          </p:nvSpPr>
          <p:spPr>
            <a:xfrm>
              <a:off x="0" y="1238250"/>
              <a:ext cx="2552700" cy="2478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9"/>
            <p:cNvSpPr txBox="1"/>
            <p:nvPr/>
          </p:nvSpPr>
          <p:spPr>
            <a:xfrm>
              <a:off x="114300" y="1285875"/>
              <a:ext cx="23241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75" b="1">
                  <a:solidFill>
                    <a:srgbClr val="F9F9F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[ CHALLENGE 02 // ISOLATION ]</a:t>
              </a:r>
              <a:endParaRPr sz="675" b="1">
                <a:solidFill>
                  <a:srgbClr val="F9F9F7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375" name="Google Shape;375;p19"/>
            <p:cNvSpPr txBox="1"/>
            <p:nvPr/>
          </p:nvSpPr>
          <p:spPr>
            <a:xfrm>
              <a:off x="114300" y="1600200"/>
              <a:ext cx="23241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5" b="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Offscreen API Isolation</a:t>
              </a:r>
              <a:endParaRPr sz="975" b="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Documents lacked local storage access.</a:t>
              </a:r>
              <a:endParaRPr sz="900" b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376" name="Google Shape;376;p19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271588" y="2524125"/>
              <a:ext cx="9600" cy="428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7" name="Google Shape;377;p19"/>
            <p:cNvSpPr/>
            <p:nvPr/>
          </p:nvSpPr>
          <p:spPr>
            <a:xfrm>
              <a:off x="895350" y="2647950"/>
              <a:ext cx="762000" cy="142800"/>
            </a:xfrm>
            <a:prstGeom prst="rect">
              <a:avLst/>
            </a:prstGeom>
            <a:solidFill>
              <a:srgbClr val="E0E0D8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9"/>
            <p:cNvSpPr txBox="1"/>
            <p:nvPr/>
          </p:nvSpPr>
          <p:spPr>
            <a:xfrm>
              <a:off x="895350" y="2647950"/>
              <a:ext cx="7620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1A1A1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RESOLUTION</a:t>
              </a:r>
              <a:endParaRPr sz="600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379" name="Google Shape;379;p19"/>
            <p:cNvSpPr/>
            <p:nvPr/>
          </p:nvSpPr>
          <p:spPr>
            <a:xfrm>
              <a:off x="1247775" y="2895600"/>
              <a:ext cx="573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9"/>
            <p:cNvSpPr/>
            <p:nvPr/>
          </p:nvSpPr>
          <p:spPr>
            <a:xfrm>
              <a:off x="0" y="2952750"/>
              <a:ext cx="2552700" cy="1666800"/>
            </a:xfrm>
            <a:prstGeom prst="rect">
              <a:avLst/>
            </a:prstGeom>
            <a:solidFill>
              <a:srgbClr val="F9F9F7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9"/>
            <p:cNvSpPr/>
            <p:nvPr/>
          </p:nvSpPr>
          <p:spPr>
            <a:xfrm>
              <a:off x="0" y="2952750"/>
              <a:ext cx="2552700" cy="2478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9"/>
            <p:cNvSpPr txBox="1"/>
            <p:nvPr/>
          </p:nvSpPr>
          <p:spPr>
            <a:xfrm>
              <a:off x="114300" y="3000375"/>
              <a:ext cx="23241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75" b="1">
                  <a:solidFill>
                    <a:srgbClr val="F9F9F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[ RESOLUTION 02 // FIX ]</a:t>
              </a:r>
              <a:endParaRPr sz="675" b="1">
                <a:solidFill>
                  <a:srgbClr val="F9F9F7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383" name="Google Shape;383;p19"/>
            <p:cNvSpPr txBox="1"/>
            <p:nvPr/>
          </p:nvSpPr>
          <p:spPr>
            <a:xfrm>
              <a:off x="114300" y="3314700"/>
              <a:ext cx="23241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5" b="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Asynchronous Message Proxy</a:t>
              </a:r>
              <a:endParaRPr sz="975" b="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Building an asynchronous message-passing proxy through the background worker.</a:t>
              </a:r>
              <a:endParaRPr sz="900" b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84" name="Google Shape;384;p19"/>
          <p:cNvGrpSpPr/>
          <p:nvPr/>
        </p:nvGrpSpPr>
        <p:grpSpPr>
          <a:xfrm>
            <a:off x="6134100" y="1238250"/>
            <a:ext cx="2552700" cy="3381300"/>
            <a:chOff x="0" y="1238250"/>
            <a:chExt cx="2552700" cy="3381300"/>
          </a:xfrm>
        </p:grpSpPr>
        <p:sp>
          <p:nvSpPr>
            <p:cNvPr id="385" name="Google Shape;385;p19"/>
            <p:cNvSpPr/>
            <p:nvPr/>
          </p:nvSpPr>
          <p:spPr>
            <a:xfrm>
              <a:off x="0" y="1238250"/>
              <a:ext cx="2552700" cy="1285800"/>
            </a:xfrm>
            <a:prstGeom prst="rect">
              <a:avLst/>
            </a:prstGeom>
            <a:solidFill>
              <a:srgbClr val="F9F9F7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9"/>
            <p:cNvSpPr/>
            <p:nvPr/>
          </p:nvSpPr>
          <p:spPr>
            <a:xfrm>
              <a:off x="0" y="1238250"/>
              <a:ext cx="2552700" cy="2478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9"/>
            <p:cNvSpPr txBox="1"/>
            <p:nvPr/>
          </p:nvSpPr>
          <p:spPr>
            <a:xfrm>
              <a:off x="114300" y="1285875"/>
              <a:ext cx="23241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75" b="1">
                  <a:solidFill>
                    <a:srgbClr val="F9F9F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[ CHALLENGE 03 // DRIFT ]</a:t>
              </a:r>
              <a:endParaRPr sz="675" b="1">
                <a:solidFill>
                  <a:srgbClr val="F9F9F7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388" name="Google Shape;388;p19"/>
            <p:cNvSpPr txBox="1"/>
            <p:nvPr/>
          </p:nvSpPr>
          <p:spPr>
            <a:xfrm>
              <a:off x="114300" y="1600200"/>
              <a:ext cx="23241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5" b="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Gunicorn Session Drift</a:t>
              </a:r>
              <a:endParaRPr sz="975" b="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Drift causing 404 errors.</a:t>
              </a:r>
              <a:endParaRPr sz="900" b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389" name="Google Shape;389;p19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271588" y="2524125"/>
              <a:ext cx="9600" cy="428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0" name="Google Shape;390;p19"/>
            <p:cNvSpPr/>
            <p:nvPr/>
          </p:nvSpPr>
          <p:spPr>
            <a:xfrm>
              <a:off x="895350" y="2647950"/>
              <a:ext cx="762000" cy="142800"/>
            </a:xfrm>
            <a:prstGeom prst="rect">
              <a:avLst/>
            </a:prstGeom>
            <a:solidFill>
              <a:srgbClr val="E0E0D8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9"/>
            <p:cNvSpPr txBox="1"/>
            <p:nvPr/>
          </p:nvSpPr>
          <p:spPr>
            <a:xfrm>
              <a:off x="895350" y="2647950"/>
              <a:ext cx="7620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1A1A1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RESOLUTION</a:t>
              </a:r>
              <a:endParaRPr sz="600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392" name="Google Shape;392;p19"/>
            <p:cNvSpPr/>
            <p:nvPr/>
          </p:nvSpPr>
          <p:spPr>
            <a:xfrm>
              <a:off x="1247775" y="2895600"/>
              <a:ext cx="573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9"/>
            <p:cNvSpPr/>
            <p:nvPr/>
          </p:nvSpPr>
          <p:spPr>
            <a:xfrm>
              <a:off x="0" y="2952750"/>
              <a:ext cx="2552700" cy="1666800"/>
            </a:xfrm>
            <a:prstGeom prst="rect">
              <a:avLst/>
            </a:prstGeom>
            <a:solidFill>
              <a:srgbClr val="F9F9F7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9"/>
            <p:cNvSpPr/>
            <p:nvPr/>
          </p:nvSpPr>
          <p:spPr>
            <a:xfrm>
              <a:off x="0" y="2952750"/>
              <a:ext cx="2552700" cy="2478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9"/>
            <p:cNvSpPr txBox="1"/>
            <p:nvPr/>
          </p:nvSpPr>
          <p:spPr>
            <a:xfrm>
              <a:off x="114300" y="3000375"/>
              <a:ext cx="23241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75" b="1">
                  <a:solidFill>
                    <a:srgbClr val="F9F9F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[ RESOLUTION 03 // FIX ]</a:t>
              </a:r>
              <a:endParaRPr sz="675" b="1">
                <a:solidFill>
                  <a:srgbClr val="F9F9F7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396" name="Google Shape;396;p19"/>
            <p:cNvSpPr txBox="1"/>
            <p:nvPr/>
          </p:nvSpPr>
          <p:spPr>
            <a:xfrm>
              <a:off x="114300" y="3314700"/>
              <a:ext cx="23241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5" b="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Worker &amp; Watcher Tuning</a:t>
              </a:r>
              <a:endParaRPr sz="975" b="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Deploying Gunicorn with a single-worker configuration and excluding uploads from directory watchers.</a:t>
              </a:r>
              <a:endParaRPr sz="900" b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7" name="Google Shape;397;p19"/>
          <p:cNvGrpSpPr/>
          <p:nvPr/>
        </p:nvGrpSpPr>
        <p:grpSpPr>
          <a:xfrm>
            <a:off x="3619500" y="4800600"/>
            <a:ext cx="1905000" cy="266700"/>
            <a:chOff x="0" y="-38100"/>
            <a:chExt cx="1905000" cy="266700"/>
          </a:xfrm>
        </p:grpSpPr>
        <p:cxnSp>
          <p:nvCxnSpPr>
            <p:cNvPr id="398" name="Google Shape;398;p19"/>
            <p:cNvCxnSpPr/>
            <p:nvPr/>
          </p:nvCxnSpPr>
          <p:spPr>
            <a:xfrm>
              <a:off x="0" y="0"/>
              <a:ext cx="1905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9" name="Google Shape;399;p19"/>
            <p:cNvCxnSpPr/>
            <p:nvPr/>
          </p:nvCxnSpPr>
          <p:spPr>
            <a:xfrm>
              <a:off x="0" y="-38100"/>
              <a:ext cx="0" cy="7620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0" name="Google Shape;400;p19"/>
            <p:cNvCxnSpPr/>
            <p:nvPr/>
          </p:nvCxnSpPr>
          <p:spPr>
            <a:xfrm>
              <a:off x="952500" y="-19050"/>
              <a:ext cx="0" cy="3810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1" name="Google Shape;401;p19"/>
            <p:cNvCxnSpPr/>
            <p:nvPr/>
          </p:nvCxnSpPr>
          <p:spPr>
            <a:xfrm>
              <a:off x="1905000" y="-38100"/>
              <a:ext cx="0" cy="7620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02" name="Google Shape;402;p19"/>
            <p:cNvSpPr txBox="1"/>
            <p:nvPr/>
          </p:nvSpPr>
          <p:spPr>
            <a:xfrm>
              <a:off x="0" y="76200"/>
              <a:ext cx="19050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0">
                  <a:solidFill>
                    <a:srgbClr val="59595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Blueprint Scale Reference // 1:12 Model</a:t>
              </a:r>
              <a:endParaRPr sz="600" b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407;p2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08" name="Google Shape;408;p20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9F9F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09" name="Google Shape;409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10" name="Google Shape;410;p20"/>
            <p:cNvCxnSpPr/>
            <p:nvPr/>
          </p:nvCxnSpPr>
          <p:spPr>
            <a:xfrm>
              <a:off x="457200" y="9525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411" name="Google Shape;411;p20"/>
            <p:cNvGrpSpPr/>
            <p:nvPr/>
          </p:nvGrpSpPr>
          <p:grpSpPr>
            <a:xfrm>
              <a:off x="8629650" y="400050"/>
              <a:ext cx="114300" cy="114300"/>
              <a:chOff x="-57150" y="-57150"/>
              <a:chExt cx="114300" cy="114300"/>
            </a:xfrm>
          </p:grpSpPr>
          <p:cxnSp>
            <p:nvCxnSpPr>
              <p:cNvPr id="412" name="Google Shape;412;p20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3" name="Google Shape;413;p20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414" name="Google Shape;414;p20"/>
            <p:cNvCxnSpPr/>
            <p:nvPr/>
          </p:nvCxnSpPr>
          <p:spPr>
            <a:xfrm>
              <a:off x="8686800" y="457200"/>
              <a:ext cx="0" cy="15240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415" name="Google Shape;415;p20"/>
          <p:cNvSpPr txBox="1"/>
          <p:nvPr/>
        </p:nvSpPr>
        <p:spPr>
          <a:xfrm>
            <a:off x="457200" y="228600"/>
            <a:ext cx="66675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Security Controls &amp; Best Practices</a:t>
            </a:r>
            <a:endParaRPr sz="2100" b="1">
              <a:solidFill>
                <a:srgbClr val="1A1A1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50" b="0">
                <a:solidFill>
                  <a:srgbClr val="595959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Architectural system constraints and secure data compliance standards</a:t>
            </a:r>
            <a:endParaRPr sz="1050" b="0">
              <a:solidFill>
                <a:srgbClr val="595959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grpSp>
        <p:nvGrpSpPr>
          <p:cNvPr id="416" name="Google Shape;416;p20"/>
          <p:cNvGrpSpPr/>
          <p:nvPr/>
        </p:nvGrpSpPr>
        <p:grpSpPr>
          <a:xfrm>
            <a:off x="3505200" y="1900238"/>
            <a:ext cx="2133675" cy="1819350"/>
            <a:chOff x="3505200" y="1900238"/>
            <a:chExt cx="2133675" cy="1819350"/>
          </a:xfrm>
        </p:grpSpPr>
        <p:pic>
          <p:nvPicPr>
            <p:cNvPr id="417" name="Google Shape;417;p2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05200" y="1900238"/>
              <a:ext cx="276300" cy="39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8" name="Google Shape;418;p2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05200" y="3328988"/>
              <a:ext cx="276300" cy="39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9" name="Google Shape;419;p2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362575" y="1900238"/>
              <a:ext cx="276300" cy="39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0" name="Google Shape;420;p2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362575" y="3328988"/>
              <a:ext cx="276300" cy="39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1" name="Google Shape;421;p20"/>
          <p:cNvSpPr/>
          <p:nvPr/>
        </p:nvSpPr>
        <p:spPr>
          <a:xfrm>
            <a:off x="3476625" y="1876425"/>
            <a:ext cx="57300" cy="573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0"/>
          <p:cNvSpPr/>
          <p:nvPr/>
        </p:nvSpPr>
        <p:spPr>
          <a:xfrm>
            <a:off x="3476625" y="3686175"/>
            <a:ext cx="57300" cy="573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0"/>
          <p:cNvSpPr/>
          <p:nvPr/>
        </p:nvSpPr>
        <p:spPr>
          <a:xfrm>
            <a:off x="5610225" y="1876425"/>
            <a:ext cx="57300" cy="573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0"/>
          <p:cNvSpPr/>
          <p:nvPr/>
        </p:nvSpPr>
        <p:spPr>
          <a:xfrm>
            <a:off x="5610225" y="3686175"/>
            <a:ext cx="57300" cy="573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5" name="Google Shape;425;p20"/>
          <p:cNvGrpSpPr/>
          <p:nvPr/>
        </p:nvGrpSpPr>
        <p:grpSpPr>
          <a:xfrm>
            <a:off x="3752850" y="1990725"/>
            <a:ext cx="1638300" cy="1838325"/>
            <a:chOff x="3752850" y="1990725"/>
            <a:chExt cx="1638300" cy="1838325"/>
          </a:xfrm>
        </p:grpSpPr>
        <p:sp>
          <p:nvSpPr>
            <p:cNvPr id="426" name="Google Shape;426;p20"/>
            <p:cNvSpPr/>
            <p:nvPr/>
          </p:nvSpPr>
          <p:spPr>
            <a:xfrm>
              <a:off x="3810000" y="2047875"/>
              <a:ext cx="1524000" cy="1524000"/>
            </a:xfrm>
            <a:prstGeom prst="rect">
              <a:avLst/>
            </a:prstGeom>
            <a:solidFill>
              <a:srgbClr val="F9F9F7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7" name="Google Shape;427;p20"/>
            <p:cNvGrpSpPr/>
            <p:nvPr/>
          </p:nvGrpSpPr>
          <p:grpSpPr>
            <a:xfrm>
              <a:off x="3752850" y="1990725"/>
              <a:ext cx="114300" cy="114300"/>
              <a:chOff x="-57150" y="-57150"/>
              <a:chExt cx="114300" cy="114300"/>
            </a:xfrm>
          </p:grpSpPr>
          <p:cxnSp>
            <p:nvCxnSpPr>
              <p:cNvPr id="428" name="Google Shape;428;p20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9" name="Google Shape;429;p20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430" name="Google Shape;430;p20"/>
            <p:cNvGrpSpPr/>
            <p:nvPr/>
          </p:nvGrpSpPr>
          <p:grpSpPr>
            <a:xfrm>
              <a:off x="5276850" y="1990725"/>
              <a:ext cx="114300" cy="114300"/>
              <a:chOff x="-57150" y="-57150"/>
              <a:chExt cx="114300" cy="114300"/>
            </a:xfrm>
          </p:grpSpPr>
          <p:cxnSp>
            <p:nvCxnSpPr>
              <p:cNvPr id="431" name="Google Shape;431;p20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2" name="Google Shape;432;p20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433" name="Google Shape;433;p20"/>
            <p:cNvGrpSpPr/>
            <p:nvPr/>
          </p:nvGrpSpPr>
          <p:grpSpPr>
            <a:xfrm>
              <a:off x="3752850" y="3514725"/>
              <a:ext cx="114300" cy="114300"/>
              <a:chOff x="-57150" y="-57150"/>
              <a:chExt cx="114300" cy="114300"/>
            </a:xfrm>
          </p:grpSpPr>
          <p:cxnSp>
            <p:nvCxnSpPr>
              <p:cNvPr id="434" name="Google Shape;434;p20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5" name="Google Shape;435;p20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436" name="Google Shape;436;p20"/>
            <p:cNvGrpSpPr/>
            <p:nvPr/>
          </p:nvGrpSpPr>
          <p:grpSpPr>
            <a:xfrm>
              <a:off x="5276850" y="3514725"/>
              <a:ext cx="114300" cy="114300"/>
              <a:chOff x="-57150" y="-57150"/>
              <a:chExt cx="114300" cy="114300"/>
            </a:xfrm>
          </p:grpSpPr>
          <p:cxnSp>
            <p:nvCxnSpPr>
              <p:cNvPr id="437" name="Google Shape;437;p20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8" name="Google Shape;438;p20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pic>
          <p:nvPicPr>
            <p:cNvPr id="439" name="Google Shape;439;p2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905250" y="2143125"/>
              <a:ext cx="1333500" cy="133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0" name="Google Shape;440;p20"/>
            <p:cNvSpPr txBox="1"/>
            <p:nvPr/>
          </p:nvSpPr>
          <p:spPr>
            <a:xfrm>
              <a:off x="3810000" y="3638550"/>
              <a:ext cx="1524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75" b="0">
                  <a:solidFill>
                    <a:srgbClr val="59595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SYS_LOCK // SECURE</a:t>
              </a:r>
              <a:endParaRPr sz="675" b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441" name="Google Shape;441;p20"/>
          <p:cNvGrpSpPr/>
          <p:nvPr/>
        </p:nvGrpSpPr>
        <p:grpSpPr>
          <a:xfrm>
            <a:off x="457200" y="1190625"/>
            <a:ext cx="3048000" cy="1428900"/>
            <a:chOff x="0" y="0"/>
            <a:chExt cx="3048000" cy="1428900"/>
          </a:xfrm>
        </p:grpSpPr>
        <p:sp>
          <p:nvSpPr>
            <p:cNvPr id="442" name="Google Shape;442;p20"/>
            <p:cNvSpPr/>
            <p:nvPr/>
          </p:nvSpPr>
          <p:spPr>
            <a:xfrm>
              <a:off x="0" y="0"/>
              <a:ext cx="3048000" cy="1428900"/>
            </a:xfrm>
            <a:prstGeom prst="rect">
              <a:avLst/>
            </a:prstGeom>
            <a:solidFill>
              <a:srgbClr val="F9F9F7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0"/>
            <p:cNvSpPr/>
            <p:nvPr/>
          </p:nvSpPr>
          <p:spPr>
            <a:xfrm>
              <a:off x="0" y="0"/>
              <a:ext cx="3048000" cy="2478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0"/>
            <p:cNvSpPr txBox="1"/>
            <p:nvPr/>
          </p:nvSpPr>
          <p:spPr>
            <a:xfrm>
              <a:off x="114300" y="38100"/>
              <a:ext cx="2819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5" b="0">
                  <a:solidFill>
                    <a:srgbClr val="F9F9F7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01 // SECURE ORIGINS</a:t>
              </a:r>
              <a:endParaRPr sz="825" b="0">
                <a:solidFill>
                  <a:srgbClr val="F9F9F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445" name="Google Shape;445;p20"/>
            <p:cNvSpPr txBox="1"/>
            <p:nvPr/>
          </p:nvSpPr>
          <p:spPr>
            <a:xfrm>
              <a:off x="114300" y="361950"/>
              <a:ext cx="2819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The architecture enforces secure origins, restraining microphone capture and endpoint requests strictly to secure HTTPS contexts.</a:t>
              </a:r>
              <a:endParaRPr sz="938" b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46" name="Google Shape;446;p20"/>
          <p:cNvGrpSpPr/>
          <p:nvPr/>
        </p:nvGrpSpPr>
        <p:grpSpPr>
          <a:xfrm>
            <a:off x="5638800" y="1190625"/>
            <a:ext cx="3048000" cy="1428900"/>
            <a:chOff x="0" y="0"/>
            <a:chExt cx="3048000" cy="1428900"/>
          </a:xfrm>
        </p:grpSpPr>
        <p:sp>
          <p:nvSpPr>
            <p:cNvPr id="447" name="Google Shape;447;p20"/>
            <p:cNvSpPr/>
            <p:nvPr/>
          </p:nvSpPr>
          <p:spPr>
            <a:xfrm>
              <a:off x="0" y="0"/>
              <a:ext cx="3048000" cy="1428900"/>
            </a:xfrm>
            <a:prstGeom prst="rect">
              <a:avLst/>
            </a:prstGeom>
            <a:solidFill>
              <a:srgbClr val="F9F9F7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0"/>
            <p:cNvSpPr/>
            <p:nvPr/>
          </p:nvSpPr>
          <p:spPr>
            <a:xfrm>
              <a:off x="0" y="0"/>
              <a:ext cx="3048000" cy="2478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0"/>
            <p:cNvSpPr txBox="1"/>
            <p:nvPr/>
          </p:nvSpPr>
          <p:spPr>
            <a:xfrm>
              <a:off x="114300" y="38100"/>
              <a:ext cx="2819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5" b="0">
                  <a:solidFill>
                    <a:srgbClr val="F9F9F7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02 // MANIFEST PERMISSIONS</a:t>
              </a:r>
              <a:endParaRPr sz="825" b="0">
                <a:solidFill>
                  <a:srgbClr val="F9F9F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450" name="Google Shape;450;p20"/>
            <p:cNvSpPr txBox="1"/>
            <p:nvPr/>
          </p:nvSpPr>
          <p:spPr>
            <a:xfrm>
              <a:off x="114300" y="361950"/>
              <a:ext cx="2819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Manifest permissions are tightly scoped, limiting host access specifically to the backend API origin.</a:t>
              </a:r>
              <a:endParaRPr sz="938" b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51" name="Google Shape;451;p20"/>
          <p:cNvGrpSpPr/>
          <p:nvPr/>
        </p:nvGrpSpPr>
        <p:grpSpPr>
          <a:xfrm>
            <a:off x="457200" y="3000375"/>
            <a:ext cx="3048000" cy="1428900"/>
            <a:chOff x="0" y="0"/>
            <a:chExt cx="3048000" cy="1428900"/>
          </a:xfrm>
        </p:grpSpPr>
        <p:sp>
          <p:nvSpPr>
            <p:cNvPr id="452" name="Google Shape;452;p20"/>
            <p:cNvSpPr/>
            <p:nvPr/>
          </p:nvSpPr>
          <p:spPr>
            <a:xfrm>
              <a:off x="0" y="0"/>
              <a:ext cx="3048000" cy="1428900"/>
            </a:xfrm>
            <a:prstGeom prst="rect">
              <a:avLst/>
            </a:prstGeom>
            <a:solidFill>
              <a:srgbClr val="F9F9F7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0"/>
            <p:cNvSpPr/>
            <p:nvPr/>
          </p:nvSpPr>
          <p:spPr>
            <a:xfrm>
              <a:off x="0" y="0"/>
              <a:ext cx="3048000" cy="2478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0"/>
            <p:cNvSpPr txBox="1"/>
            <p:nvPr/>
          </p:nvSpPr>
          <p:spPr>
            <a:xfrm>
              <a:off x="114300" y="38100"/>
              <a:ext cx="2819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5" b="0">
                  <a:solidFill>
                    <a:srgbClr val="F9F9F7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03 // STRICT CORS</a:t>
              </a:r>
              <a:endParaRPr sz="825" b="0">
                <a:solidFill>
                  <a:srgbClr val="F9F9F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455" name="Google Shape;455;p20"/>
            <p:cNvSpPr txBox="1"/>
            <p:nvPr/>
          </p:nvSpPr>
          <p:spPr>
            <a:xfrm>
              <a:off x="114300" y="361950"/>
              <a:ext cx="2819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The FastAPI server configures strict Cross-Origin Resource Sharing to restrict external API requests.</a:t>
              </a:r>
              <a:endParaRPr sz="938" b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56" name="Google Shape;456;p20"/>
          <p:cNvGrpSpPr/>
          <p:nvPr/>
        </p:nvGrpSpPr>
        <p:grpSpPr>
          <a:xfrm>
            <a:off x="5638800" y="3000375"/>
            <a:ext cx="3048000" cy="1428900"/>
            <a:chOff x="0" y="0"/>
            <a:chExt cx="3048000" cy="1428900"/>
          </a:xfrm>
        </p:grpSpPr>
        <p:sp>
          <p:nvSpPr>
            <p:cNvPr id="457" name="Google Shape;457;p20"/>
            <p:cNvSpPr/>
            <p:nvPr/>
          </p:nvSpPr>
          <p:spPr>
            <a:xfrm>
              <a:off x="0" y="0"/>
              <a:ext cx="3048000" cy="1428900"/>
            </a:xfrm>
            <a:prstGeom prst="rect">
              <a:avLst/>
            </a:prstGeom>
            <a:solidFill>
              <a:srgbClr val="F9F9F7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0"/>
            <p:cNvSpPr/>
            <p:nvPr/>
          </p:nvSpPr>
          <p:spPr>
            <a:xfrm>
              <a:off x="0" y="0"/>
              <a:ext cx="3048000" cy="2478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0"/>
            <p:cNvSpPr txBox="1"/>
            <p:nvPr/>
          </p:nvSpPr>
          <p:spPr>
            <a:xfrm>
              <a:off x="114300" y="38100"/>
              <a:ext cx="2819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5" b="0">
                  <a:solidFill>
                    <a:srgbClr val="F9F9F7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04 // DATA EPHEMERALITY</a:t>
              </a:r>
              <a:endParaRPr sz="825" b="0">
                <a:solidFill>
                  <a:srgbClr val="F9F9F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460" name="Google Shape;460;p20"/>
            <p:cNvSpPr txBox="1"/>
            <p:nvPr/>
          </p:nvSpPr>
          <p:spPr>
            <a:xfrm>
              <a:off x="114300" y="361950"/>
              <a:ext cx="2819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Furthermore, the system guarantees data ephemerality; audio chunks and WAV files are temporarily stored and immediately cleaned up post-processing to ensure maximum security.</a:t>
              </a:r>
              <a:endParaRPr sz="938" b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6" name="Google Shape;46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7" name="Google Shape;467;p21"/>
          <p:cNvCxnSpPr/>
          <p:nvPr/>
        </p:nvCxnSpPr>
        <p:spPr>
          <a:xfrm>
            <a:off x="457200" y="952500"/>
            <a:ext cx="82296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68" name="Google Shape;468;p21"/>
          <p:cNvGrpSpPr/>
          <p:nvPr/>
        </p:nvGrpSpPr>
        <p:grpSpPr>
          <a:xfrm>
            <a:off x="8629650" y="400050"/>
            <a:ext cx="114300" cy="114300"/>
            <a:chOff x="-57150" y="-57150"/>
            <a:chExt cx="114300" cy="114300"/>
          </a:xfrm>
        </p:grpSpPr>
        <p:cxnSp>
          <p:nvCxnSpPr>
            <p:cNvPr id="469" name="Google Shape;469;p21"/>
            <p:cNvCxnSpPr/>
            <p:nvPr/>
          </p:nvCxnSpPr>
          <p:spPr>
            <a:xfrm>
              <a:off x="-57150" y="0"/>
              <a:ext cx="1143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0" name="Google Shape;470;p21"/>
            <p:cNvCxnSpPr/>
            <p:nvPr/>
          </p:nvCxnSpPr>
          <p:spPr>
            <a:xfrm>
              <a:off x="0" y="-57150"/>
              <a:ext cx="0" cy="11430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1" name="Google Shape;471;p21"/>
          <p:cNvCxnSpPr/>
          <p:nvPr/>
        </p:nvCxnSpPr>
        <p:spPr>
          <a:xfrm>
            <a:off x="8686800" y="457200"/>
            <a:ext cx="0" cy="15240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2" name="Google Shape;472;p21"/>
          <p:cNvSpPr txBox="1"/>
          <p:nvPr/>
        </p:nvSpPr>
        <p:spPr>
          <a:xfrm>
            <a:off x="457200" y="304800"/>
            <a:ext cx="5715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A1A1A"/>
                </a:solidFill>
                <a:latin typeface="Manrope"/>
                <a:ea typeface="Manrope"/>
                <a:cs typeface="Manrope"/>
                <a:sym typeface="Manrope"/>
              </a:rPr>
              <a:t>Key Learnings &amp; Future Roadmap</a:t>
            </a:r>
            <a:endParaRPr sz="2400" b="1">
              <a:solidFill>
                <a:srgbClr val="1A1A1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73" name="Google Shape;473;p21"/>
          <p:cNvSpPr txBox="1"/>
          <p:nvPr/>
        </p:nvSpPr>
        <p:spPr>
          <a:xfrm>
            <a:off x="6286500" y="304800"/>
            <a:ext cx="24003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0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Technical Milestone Log</a:t>
            </a:r>
            <a:endParaRPr sz="750" b="0">
              <a:solidFill>
                <a:srgbClr val="1A1A1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675" b="0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 ARCHITECTURE &amp; SCALING</a:t>
            </a:r>
            <a:endParaRPr sz="675" b="0">
              <a:solidFill>
                <a:srgbClr val="8C8C8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grpSp>
        <p:nvGrpSpPr>
          <p:cNvPr id="474" name="Google Shape;474;p21"/>
          <p:cNvGrpSpPr/>
          <p:nvPr/>
        </p:nvGrpSpPr>
        <p:grpSpPr>
          <a:xfrm>
            <a:off x="400050" y="1085850"/>
            <a:ext cx="4038600" cy="1409850"/>
            <a:chOff x="400050" y="1085850"/>
            <a:chExt cx="4038600" cy="1409850"/>
          </a:xfrm>
        </p:grpSpPr>
        <p:cxnSp>
          <p:nvCxnSpPr>
            <p:cNvPr id="475" name="Google Shape;475;p21"/>
            <p:cNvCxnSpPr/>
            <p:nvPr/>
          </p:nvCxnSpPr>
          <p:spPr>
            <a:xfrm>
              <a:off x="457200" y="1143000"/>
              <a:ext cx="39243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476" name="Google Shape;476;p21"/>
            <p:cNvGrpSpPr/>
            <p:nvPr/>
          </p:nvGrpSpPr>
          <p:grpSpPr>
            <a:xfrm>
              <a:off x="400050" y="1085850"/>
              <a:ext cx="114300" cy="114300"/>
              <a:chOff x="-57150" y="-57150"/>
              <a:chExt cx="114300" cy="114300"/>
            </a:xfrm>
          </p:grpSpPr>
          <p:cxnSp>
            <p:nvCxnSpPr>
              <p:cNvPr id="477" name="Google Shape;477;p21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78" name="Google Shape;478;p21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479" name="Google Shape;479;p21"/>
            <p:cNvGrpSpPr/>
            <p:nvPr/>
          </p:nvGrpSpPr>
          <p:grpSpPr>
            <a:xfrm>
              <a:off x="4324350" y="1085850"/>
              <a:ext cx="114300" cy="114300"/>
              <a:chOff x="-57150" y="-57150"/>
              <a:chExt cx="114300" cy="114300"/>
            </a:xfrm>
          </p:grpSpPr>
          <p:cxnSp>
            <p:nvCxnSpPr>
              <p:cNvPr id="480" name="Google Shape;480;p21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81" name="Google Shape;481;p21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482" name="Google Shape;482;p21"/>
            <p:cNvSpPr txBox="1"/>
            <p:nvPr/>
          </p:nvSpPr>
          <p:spPr>
            <a:xfrm>
              <a:off x="457200" y="1219200"/>
              <a:ext cx="3924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5" b="1">
                  <a:solidFill>
                    <a:srgbClr val="1A1A1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01 / INTERNSHIP KEY LEARNINGS</a:t>
              </a:r>
              <a:endParaRPr sz="825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483" name="Google Shape;483;p21"/>
            <p:cNvSpPr txBox="1"/>
            <p:nvPr/>
          </p:nvSpPr>
          <p:spPr>
            <a:xfrm>
              <a:off x="457200" y="1447800"/>
              <a:ext cx="3924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9" b="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Chrome Extension Architecture:</a:t>
              </a:r>
              <a:r>
                <a:rPr lang="en" sz="829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Mastered advanced design principles and Manifest V3 life-cycles for robust, background-service-based client execution.</a:t>
              </a:r>
              <a:endParaRPr sz="829" b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829" b="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Signal &amp; Audio Processing:</a:t>
              </a:r>
              <a:r>
                <a:rPr lang="en" sz="829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Executed Web Audio API graph manipulation and raw PCM signal processing directly within client environments.</a:t>
              </a:r>
              <a:endParaRPr sz="829" b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829" b="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Backend Deployment:</a:t>
              </a:r>
              <a:r>
                <a:rPr lang="en" sz="829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Developed and deployed scalable ASGI servers leveraging Gunicorn and FastAPI architectures.</a:t>
              </a:r>
              <a:endParaRPr sz="829" b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84" name="Google Shape;484;p21"/>
          <p:cNvGrpSpPr/>
          <p:nvPr/>
        </p:nvGrpSpPr>
        <p:grpSpPr>
          <a:xfrm>
            <a:off x="4705350" y="1085850"/>
            <a:ext cx="4038600" cy="1409850"/>
            <a:chOff x="4705350" y="1085850"/>
            <a:chExt cx="4038600" cy="1409850"/>
          </a:xfrm>
        </p:grpSpPr>
        <p:cxnSp>
          <p:nvCxnSpPr>
            <p:cNvPr id="485" name="Google Shape;485;p21"/>
            <p:cNvCxnSpPr/>
            <p:nvPr/>
          </p:nvCxnSpPr>
          <p:spPr>
            <a:xfrm>
              <a:off x="4762500" y="1143000"/>
              <a:ext cx="39243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486" name="Google Shape;486;p21"/>
            <p:cNvGrpSpPr/>
            <p:nvPr/>
          </p:nvGrpSpPr>
          <p:grpSpPr>
            <a:xfrm>
              <a:off x="4705350" y="1085850"/>
              <a:ext cx="114300" cy="114300"/>
              <a:chOff x="-57150" y="-57150"/>
              <a:chExt cx="114300" cy="114300"/>
            </a:xfrm>
          </p:grpSpPr>
          <p:cxnSp>
            <p:nvCxnSpPr>
              <p:cNvPr id="487" name="Google Shape;487;p21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88" name="Google Shape;488;p21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489" name="Google Shape;489;p21"/>
            <p:cNvGrpSpPr/>
            <p:nvPr/>
          </p:nvGrpSpPr>
          <p:grpSpPr>
            <a:xfrm>
              <a:off x="8629650" y="1085850"/>
              <a:ext cx="114300" cy="114300"/>
              <a:chOff x="-57150" y="-57150"/>
              <a:chExt cx="114300" cy="114300"/>
            </a:xfrm>
          </p:grpSpPr>
          <p:cxnSp>
            <p:nvCxnSpPr>
              <p:cNvPr id="490" name="Google Shape;490;p21"/>
              <p:cNvCxnSpPr/>
              <p:nvPr/>
            </p:nvCxnSpPr>
            <p:spPr>
              <a:xfrm>
                <a:off x="-57150" y="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1" name="Google Shape;491;p21"/>
              <p:cNvCxnSpPr/>
              <p:nvPr/>
            </p:nvCxnSpPr>
            <p:spPr>
              <a:xfrm>
                <a:off x="0" y="-571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492" name="Google Shape;492;p21"/>
            <p:cNvSpPr txBox="1"/>
            <p:nvPr/>
          </p:nvSpPr>
          <p:spPr>
            <a:xfrm>
              <a:off x="4762500" y="1219200"/>
              <a:ext cx="3924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5" b="1">
                  <a:solidFill>
                    <a:srgbClr val="1A1A1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02 / FUTURE ROADMAP &amp; SCALING</a:t>
              </a:r>
              <a:endParaRPr sz="825" b="1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493" name="Google Shape;493;p21"/>
            <p:cNvSpPr txBox="1"/>
            <p:nvPr/>
          </p:nvSpPr>
          <p:spPr>
            <a:xfrm>
              <a:off x="4762500" y="1447800"/>
              <a:ext cx="3924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5" b="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AudioWorklet Migration:</a:t>
              </a:r>
              <a:r>
                <a:rPr lang="en" sz="975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Shift intensive PCM signal processing off the main UI thread onto dedicated audio threads to guarantee lag-free client performance.</a:t>
              </a:r>
              <a:endParaRPr sz="975" b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975" b="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SQLite Database Persistence:</a:t>
              </a:r>
              <a:r>
                <a:rPr lang="en" sz="975" b="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Replace volatile in-memory state with a structured relational database layer, enabling seamless multi-worker server clustering and high-availability scaling.</a:t>
              </a:r>
              <a:endParaRPr sz="975" b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494" name="Google Shape;494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2662238"/>
            <a:ext cx="8191500" cy="9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5" name="Google Shape;495;p21"/>
          <p:cNvGrpSpPr/>
          <p:nvPr/>
        </p:nvGrpSpPr>
        <p:grpSpPr>
          <a:xfrm>
            <a:off x="476250" y="2809875"/>
            <a:ext cx="8096400" cy="2000175"/>
            <a:chOff x="476250" y="2809875"/>
            <a:chExt cx="8096400" cy="2000175"/>
          </a:xfrm>
        </p:grpSpPr>
        <p:grpSp>
          <p:nvGrpSpPr>
            <p:cNvPr id="496" name="Google Shape;496;p21"/>
            <p:cNvGrpSpPr/>
            <p:nvPr/>
          </p:nvGrpSpPr>
          <p:grpSpPr>
            <a:xfrm>
              <a:off x="762000" y="2809875"/>
              <a:ext cx="3810000" cy="238275"/>
              <a:chOff x="762000" y="2809875"/>
              <a:chExt cx="3810000" cy="238275"/>
            </a:xfrm>
          </p:grpSpPr>
          <p:pic>
            <p:nvPicPr>
              <p:cNvPr id="497" name="Google Shape;497;p21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762000" y="2995613"/>
                <a:ext cx="37911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498" name="Google Shape;498;p21"/>
              <p:cNvCxnSpPr/>
              <p:nvPr/>
            </p:nvCxnSpPr>
            <p:spPr>
              <a:xfrm>
                <a:off x="762000" y="2952750"/>
                <a:ext cx="0" cy="954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9" name="Google Shape;499;p21"/>
              <p:cNvCxnSpPr/>
              <p:nvPr/>
            </p:nvCxnSpPr>
            <p:spPr>
              <a:xfrm>
                <a:off x="4572000" y="2952750"/>
                <a:ext cx="0" cy="954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00" name="Google Shape;500;p21"/>
              <p:cNvSpPr txBox="1"/>
              <p:nvPr/>
            </p:nvSpPr>
            <p:spPr>
              <a:xfrm>
                <a:off x="1714500" y="2809875"/>
                <a:ext cx="1905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75" b="0">
                    <a:solidFill>
                      <a:srgbClr val="595959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Completed Achievements</a:t>
                </a:r>
                <a:endParaRPr sz="675" b="0">
                  <a:solidFill>
                    <a:srgbClr val="595959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  <p:grpSp>
          <p:nvGrpSpPr>
            <p:cNvPr id="501" name="Google Shape;501;p21"/>
            <p:cNvGrpSpPr/>
            <p:nvPr/>
          </p:nvGrpSpPr>
          <p:grpSpPr>
            <a:xfrm>
              <a:off x="5334000" y="2809875"/>
              <a:ext cx="3048000" cy="238275"/>
              <a:chOff x="5334000" y="2809875"/>
              <a:chExt cx="3048000" cy="238275"/>
            </a:xfrm>
          </p:grpSpPr>
          <p:pic>
            <p:nvPicPr>
              <p:cNvPr id="502" name="Google Shape;502;p21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5334000" y="2995613"/>
                <a:ext cx="30291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503" name="Google Shape;503;p21"/>
              <p:cNvCxnSpPr/>
              <p:nvPr/>
            </p:nvCxnSpPr>
            <p:spPr>
              <a:xfrm>
                <a:off x="5334000" y="2952750"/>
                <a:ext cx="0" cy="954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04" name="Google Shape;504;p21"/>
              <p:cNvCxnSpPr/>
              <p:nvPr/>
            </p:nvCxnSpPr>
            <p:spPr>
              <a:xfrm>
                <a:off x="8382000" y="2952750"/>
                <a:ext cx="0" cy="954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05" name="Google Shape;505;p21"/>
              <p:cNvSpPr txBox="1"/>
              <p:nvPr/>
            </p:nvSpPr>
            <p:spPr>
              <a:xfrm>
                <a:off x="5905500" y="2809875"/>
                <a:ext cx="1905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75" b="0">
                    <a:solidFill>
                      <a:srgbClr val="595959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Future Upgrades</a:t>
                </a:r>
                <a:endParaRPr sz="675" b="0">
                  <a:solidFill>
                    <a:srgbClr val="595959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  <p:cxnSp>
          <p:nvCxnSpPr>
            <p:cNvPr id="506" name="Google Shape;506;p21"/>
            <p:cNvCxnSpPr/>
            <p:nvPr/>
          </p:nvCxnSpPr>
          <p:spPr>
            <a:xfrm>
              <a:off x="571500" y="3476625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07" name="Google Shape;507;p21"/>
            <p:cNvSpPr/>
            <p:nvPr/>
          </p:nvSpPr>
          <p:spPr>
            <a:xfrm>
              <a:off x="571500" y="3429000"/>
              <a:ext cx="954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0" y="60000"/>
                  </a:ln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4300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8477250" y="3429000"/>
              <a:ext cx="954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4300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9" name="Google Shape;509;p21"/>
            <p:cNvGrpSpPr/>
            <p:nvPr/>
          </p:nvGrpSpPr>
          <p:grpSpPr>
            <a:xfrm>
              <a:off x="476250" y="3343275"/>
              <a:ext cx="1333500" cy="1466775"/>
              <a:chOff x="476250" y="3343275"/>
              <a:chExt cx="1333500" cy="1466775"/>
            </a:xfrm>
          </p:grpSpPr>
          <p:sp>
            <p:nvSpPr>
              <p:cNvPr id="510" name="Google Shape;510;p21"/>
              <p:cNvSpPr/>
              <p:nvPr/>
            </p:nvSpPr>
            <p:spPr>
              <a:xfrm>
                <a:off x="1009650" y="3343275"/>
                <a:ext cx="266700" cy="266700"/>
              </a:xfrm>
              <a:prstGeom prst="ellipse">
                <a:avLst/>
              </a:prstGeom>
              <a:solidFill>
                <a:srgbClr val="F9F9F7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1"/>
              <p:cNvSpPr/>
              <p:nvPr/>
            </p:nvSpPr>
            <p:spPr>
              <a:xfrm>
                <a:off x="1104900" y="3438525"/>
                <a:ext cx="76200" cy="7620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512" name="Google Shape;512;p21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1138238" y="3609975"/>
                <a:ext cx="9600" cy="247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3" name="Google Shape;513;p21"/>
              <p:cNvSpPr txBox="1"/>
              <p:nvPr/>
            </p:nvSpPr>
            <p:spPr>
              <a:xfrm>
                <a:off x="476250" y="3905250"/>
                <a:ext cx="1333500" cy="9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25" b="1">
                    <a:solidFill>
                      <a:srgbClr val="1A1A1A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01 / EXTENSION</a:t>
                </a:r>
                <a:endParaRPr sz="825" b="1">
                  <a:solidFill>
                    <a:srgbClr val="1A1A1A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  <a:p>
                <a:pPr marL="0" lvl="0" indent="0" algn="ct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675" b="0">
                    <a:solidFill>
                      <a:srgbClr val="595959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Manifest V3</a:t>
                </a:r>
                <a:endParaRPr sz="675" b="0">
                  <a:solidFill>
                    <a:srgbClr val="595959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marL="0" lvl="0" indent="0" algn="ctr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" sz="825" b="0">
                    <a:solidFill>
                      <a:srgbClr val="595959"/>
                    </a:solidFill>
                    <a:latin typeface="Inter"/>
                    <a:ea typeface="Inter"/>
                    <a:cs typeface="Inter"/>
                    <a:sym typeface="Inter"/>
                  </a:rPr>
                  <a:t>Advanced client service-worker life-cycles</a:t>
                </a:r>
                <a:endParaRPr sz="825" b="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14" name="Google Shape;514;p21"/>
            <p:cNvGrpSpPr/>
            <p:nvPr/>
          </p:nvGrpSpPr>
          <p:grpSpPr>
            <a:xfrm>
              <a:off x="2000250" y="3343275"/>
              <a:ext cx="1333500" cy="1466775"/>
              <a:chOff x="2000250" y="3343275"/>
              <a:chExt cx="1333500" cy="1466775"/>
            </a:xfrm>
          </p:grpSpPr>
          <p:sp>
            <p:nvSpPr>
              <p:cNvPr id="515" name="Google Shape;515;p21"/>
              <p:cNvSpPr/>
              <p:nvPr/>
            </p:nvSpPr>
            <p:spPr>
              <a:xfrm>
                <a:off x="2533650" y="3343275"/>
                <a:ext cx="266700" cy="266700"/>
              </a:xfrm>
              <a:prstGeom prst="ellipse">
                <a:avLst/>
              </a:prstGeom>
              <a:solidFill>
                <a:srgbClr val="F9F9F7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1"/>
              <p:cNvSpPr/>
              <p:nvPr/>
            </p:nvSpPr>
            <p:spPr>
              <a:xfrm>
                <a:off x="2628900" y="3438525"/>
                <a:ext cx="76200" cy="7620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517" name="Google Shape;517;p21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2662238" y="3609975"/>
                <a:ext cx="9600" cy="247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8" name="Google Shape;518;p21"/>
              <p:cNvSpPr txBox="1"/>
              <p:nvPr/>
            </p:nvSpPr>
            <p:spPr>
              <a:xfrm>
                <a:off x="2000250" y="3905250"/>
                <a:ext cx="1333500" cy="9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25" b="1">
                    <a:solidFill>
                      <a:srgbClr val="1A1A1A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02 / AUDIO API</a:t>
                </a:r>
                <a:endParaRPr sz="825" b="1">
                  <a:solidFill>
                    <a:srgbClr val="1A1A1A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  <a:p>
                <a:pPr marL="0" lvl="0" indent="0" algn="ct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675" b="0">
                    <a:solidFill>
                      <a:srgbClr val="595959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PCM Processing</a:t>
                </a:r>
                <a:endParaRPr sz="675" b="0">
                  <a:solidFill>
                    <a:srgbClr val="595959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marL="0" lvl="0" indent="0" algn="ctr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" sz="825" b="0">
                    <a:solidFill>
                      <a:srgbClr val="595959"/>
                    </a:solidFill>
                    <a:latin typeface="Inter"/>
                    <a:ea typeface="Inter"/>
                    <a:cs typeface="Inter"/>
                    <a:sym typeface="Inter"/>
                  </a:rPr>
                  <a:t>Node graph &amp; signal manipulation</a:t>
                </a:r>
                <a:endParaRPr sz="825" b="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19" name="Google Shape;519;p21"/>
            <p:cNvGrpSpPr/>
            <p:nvPr/>
          </p:nvGrpSpPr>
          <p:grpSpPr>
            <a:xfrm>
              <a:off x="3524250" y="3343275"/>
              <a:ext cx="1333500" cy="1466775"/>
              <a:chOff x="3524250" y="3343275"/>
              <a:chExt cx="1333500" cy="1466775"/>
            </a:xfrm>
          </p:grpSpPr>
          <p:sp>
            <p:nvSpPr>
              <p:cNvPr id="520" name="Google Shape;520;p21"/>
              <p:cNvSpPr/>
              <p:nvPr/>
            </p:nvSpPr>
            <p:spPr>
              <a:xfrm>
                <a:off x="4057650" y="3343275"/>
                <a:ext cx="266700" cy="266700"/>
              </a:xfrm>
              <a:prstGeom prst="ellipse">
                <a:avLst/>
              </a:prstGeom>
              <a:solidFill>
                <a:srgbClr val="F9F9F7"/>
              </a:solidFill>
              <a:ln w="9525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1"/>
              <p:cNvSpPr/>
              <p:nvPr/>
            </p:nvSpPr>
            <p:spPr>
              <a:xfrm>
                <a:off x="4152900" y="3438525"/>
                <a:ext cx="76200" cy="7620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522" name="Google Shape;522;p21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4186238" y="3609975"/>
                <a:ext cx="9600" cy="247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23" name="Google Shape;523;p21"/>
              <p:cNvSpPr txBox="1"/>
              <p:nvPr/>
            </p:nvSpPr>
            <p:spPr>
              <a:xfrm>
                <a:off x="3524250" y="3905250"/>
                <a:ext cx="1333500" cy="9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25" b="1">
                    <a:solidFill>
                      <a:srgbClr val="1A1A1A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03 / ASGI DEPLOY</a:t>
                </a:r>
                <a:endParaRPr sz="825" b="1">
                  <a:solidFill>
                    <a:srgbClr val="1A1A1A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  <a:p>
                <a:pPr marL="0" lvl="0" indent="0" algn="ct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675" b="0">
                    <a:solidFill>
                      <a:srgbClr val="595959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FastAPI &amp; Gunicorn</a:t>
                </a:r>
                <a:endParaRPr sz="675" b="0">
                  <a:solidFill>
                    <a:srgbClr val="595959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marL="0" lvl="0" indent="0" algn="ctr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" sz="825" b="0">
                    <a:solidFill>
                      <a:srgbClr val="595959"/>
                    </a:solidFill>
                    <a:latin typeface="Inter"/>
                    <a:ea typeface="Inter"/>
                    <a:cs typeface="Inter"/>
                    <a:sym typeface="Inter"/>
                  </a:rPr>
                  <a:t>High-performance asynchronous backends</a:t>
                </a:r>
                <a:endParaRPr sz="825" b="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24" name="Google Shape;524;p21"/>
            <p:cNvGrpSpPr/>
            <p:nvPr/>
          </p:nvGrpSpPr>
          <p:grpSpPr>
            <a:xfrm>
              <a:off x="5429250" y="3338513"/>
              <a:ext cx="1333500" cy="1471538"/>
              <a:chOff x="5429250" y="3338513"/>
              <a:chExt cx="1333500" cy="1471538"/>
            </a:xfrm>
          </p:grpSpPr>
          <p:pic>
            <p:nvPicPr>
              <p:cNvPr id="525" name="Google Shape;525;p21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5957888" y="3338513"/>
                <a:ext cx="276300" cy="276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26" name="Google Shape;526;p21"/>
              <p:cNvSpPr/>
              <p:nvPr/>
            </p:nvSpPr>
            <p:spPr>
              <a:xfrm>
                <a:off x="6057900" y="3438525"/>
                <a:ext cx="76200" cy="762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4300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527" name="Google Shape;527;p21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6091238" y="3609975"/>
                <a:ext cx="9600" cy="247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28" name="Google Shape;528;p21"/>
              <p:cNvSpPr txBox="1"/>
              <p:nvPr/>
            </p:nvSpPr>
            <p:spPr>
              <a:xfrm>
                <a:off x="5429250" y="3905250"/>
                <a:ext cx="1333500" cy="9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25" b="1">
                    <a:solidFill>
                      <a:srgbClr val="1A1A1A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04 / MULTI-THREAD</a:t>
                </a:r>
                <a:endParaRPr sz="825" b="1">
                  <a:solidFill>
                    <a:srgbClr val="1A1A1A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  <a:p>
                <a:pPr marL="0" lvl="0" indent="0" algn="ct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675" b="0">
                    <a:solidFill>
                      <a:srgbClr val="595959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AudioWorklet</a:t>
                </a:r>
                <a:endParaRPr sz="675" b="0">
                  <a:solidFill>
                    <a:srgbClr val="595959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marL="0" lvl="0" indent="0" algn="ctr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" sz="825" b="0">
                    <a:solidFill>
                      <a:srgbClr val="595959"/>
                    </a:solidFill>
                    <a:latin typeface="Inter"/>
                    <a:ea typeface="Inter"/>
                    <a:cs typeface="Inter"/>
                    <a:sym typeface="Inter"/>
                  </a:rPr>
                  <a:t>Offload signal processing from UI threads</a:t>
                </a:r>
                <a:endParaRPr sz="825" b="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29" name="Google Shape;529;p21"/>
            <p:cNvGrpSpPr/>
            <p:nvPr/>
          </p:nvGrpSpPr>
          <p:grpSpPr>
            <a:xfrm>
              <a:off x="6953250" y="3338513"/>
              <a:ext cx="1333500" cy="1471538"/>
              <a:chOff x="6953250" y="3338513"/>
              <a:chExt cx="1333500" cy="1471538"/>
            </a:xfrm>
          </p:grpSpPr>
          <p:pic>
            <p:nvPicPr>
              <p:cNvPr id="530" name="Google Shape;530;p21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7481888" y="3338513"/>
                <a:ext cx="276300" cy="276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31" name="Google Shape;531;p21"/>
              <p:cNvSpPr/>
              <p:nvPr/>
            </p:nvSpPr>
            <p:spPr>
              <a:xfrm>
                <a:off x="7581900" y="3438525"/>
                <a:ext cx="76200" cy="762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4300" cap="flat" cmpd="sng">
                <a:solidFill>
                  <a:srgbClr val="1A1A1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532" name="Google Shape;532;p21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7615238" y="3609975"/>
                <a:ext cx="9600" cy="247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33" name="Google Shape;533;p21"/>
              <p:cNvSpPr txBox="1"/>
              <p:nvPr/>
            </p:nvSpPr>
            <p:spPr>
              <a:xfrm>
                <a:off x="6953250" y="3905250"/>
                <a:ext cx="1333500" cy="9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25" b="1">
                    <a:solidFill>
                      <a:srgbClr val="1A1A1A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05 / CLUSTER DB</a:t>
                </a:r>
                <a:endParaRPr sz="825" b="1">
                  <a:solidFill>
                    <a:srgbClr val="1A1A1A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  <a:p>
                <a:pPr marL="0" lvl="0" indent="0" algn="ct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675" b="0">
                    <a:solidFill>
                      <a:srgbClr val="595959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SQLite Persistence</a:t>
                </a:r>
                <a:endParaRPr sz="675" b="0">
                  <a:solidFill>
                    <a:srgbClr val="595959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marL="0" lvl="0" indent="0" algn="ctr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" sz="825" b="0">
                    <a:solidFill>
                      <a:srgbClr val="595959"/>
                    </a:solidFill>
                    <a:latin typeface="Inter"/>
                    <a:ea typeface="Inter"/>
                    <a:cs typeface="Inter"/>
                    <a:sym typeface="Inter"/>
                  </a:rPr>
                  <a:t>Replace in-memory state to scale multi-worker servers</a:t>
                </a:r>
                <a:endParaRPr sz="825" b="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895</Words>
  <Application>Microsoft Office PowerPoint</Application>
  <PresentationFormat>On-screen Show (16:9)</PresentationFormat>
  <Paragraphs>129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Inter</vt:lpstr>
      <vt:lpstr>Manrope Medium</vt:lpstr>
      <vt:lpstr>Inter SemiBold</vt:lpstr>
      <vt:lpstr>Manrope</vt:lpstr>
      <vt:lpstr>JetBrains Mono</vt:lpstr>
      <vt:lpstr>JetBrains Mono SemiBold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shilpy2088@outlook.com</cp:lastModifiedBy>
  <cp:revision>1</cp:revision>
  <dcterms:modified xsi:type="dcterms:W3CDTF">2026-07-28T15:24:35Z</dcterms:modified>
</cp:coreProperties>
</file>